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media/image1.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sz="1400" strike="noStrike" u="none">
                <a:solidFill>
                  <a:srgbClr val="12181f"/>
                </a:solidFill>
                <a:uFillTx/>
                <a:latin typeface="Calibri"/>
              </a:rPr>
              <a:t>MAE en validación (µg/m³) — más bajo es mejor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MAE en validación</c:v>
                </c:pt>
              </c:strCache>
            </c:strRef>
          </c:tx>
          <c:spPr>
            <a:solidFill>
              <a:srgbClr val="5c6570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5c6570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Lbls>
            <c:numFmt formatCode="0.000" sourceLinked="0"/>
            <c:dLbl>
              <c:idx val="0"/>
              <c:numFmt formatCode="0.000" sourceLinked="0"/>
              <c:txPr>
                <a:bodyPr wrap="square"/>
                <a:lstStyle/>
                <a:p>
                  <a:pPr>
                    <a:defRPr b="0" sz="1300" strike="noStrike" u="none">
                      <a:solidFill>
                        <a:srgbClr val="12181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0" sourceLinked="0"/>
              <c:txPr>
                <a:bodyPr wrap="square"/>
                <a:lstStyle/>
                <a:p>
                  <a:pPr>
                    <a:defRPr b="0" sz="1300" strike="noStrike" u="none">
                      <a:solidFill>
                        <a:srgbClr val="12181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0" sourceLinked="0"/>
              <c:txPr>
                <a:bodyPr wrap="square"/>
                <a:lstStyle/>
                <a:p>
                  <a:pPr>
                    <a:defRPr b="0" sz="1300" strike="noStrike" u="none">
                      <a:solidFill>
                        <a:srgbClr val="12181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00" sourceLinked="0"/>
              <c:txPr>
                <a:bodyPr wrap="square"/>
                <a:lstStyle/>
                <a:p>
                  <a:pPr>
                    <a:defRPr b="0" sz="1300" strike="noStrike" u="none">
                      <a:solidFill>
                        <a:srgbClr val="12181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300" strike="noStrike" u="none">
                    <a:solidFill>
                      <a:srgbClr val="12181f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baseline</c:v>
                </c:pt>
                <c:pt idx="1">
                  <c:v>ridge</c:v>
                </c:pt>
                <c:pt idx="2">
                  <c:v>random_forest</c:v>
                </c:pt>
                <c:pt idx="3">
                  <c:v>gradient_boosting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4.021</c:v>
                </c:pt>
                <c:pt idx="1">
                  <c:v>3.096</c:v>
                </c:pt>
                <c:pt idx="2">
                  <c:v>3.043</c:v>
                </c:pt>
                <c:pt idx="3">
                  <c:v>2.905</c:v>
                </c:pt>
              </c:numCache>
            </c:numRef>
          </c:val>
        </c:ser>
        <c:gapWidth val="150"/>
        <c:overlap val="0"/>
        <c:axId val="28919479"/>
        <c:axId val="6625925"/>
      </c:barChart>
      <c:catAx>
        <c:axId val="2891947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5c6570"/>
                </a:solidFill>
                <a:uFillTx/>
                <a:latin typeface="Calibri"/>
              </a:defRPr>
            </a:pPr>
          </a:p>
        </c:txPr>
        <c:crossAx val="6625925"/>
        <c:crosses val="autoZero"/>
        <c:auto val="1"/>
        <c:lblAlgn val="ctr"/>
        <c:lblOffset val="100"/>
        <c:noMultiLvlLbl val="0"/>
      </c:catAx>
      <c:valAx>
        <c:axId val="6625925"/>
        <c:scaling>
          <c:orientation val="minMax"/>
          <c:max val="4.5"/>
          <c:min val="0"/>
        </c:scaling>
        <c:delete val="0"/>
        <c:axPos val="l"/>
        <c:majorGridlines>
          <c:spPr>
            <a:ln w="12600">
              <a:solidFill>
                <a:srgbClr val="e3e8ef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5c6570"/>
                </a:solidFill>
                <a:uFillTx/>
                <a:latin typeface="Calibri"/>
              </a:defRPr>
            </a:pPr>
          </a:p>
        </c:txPr>
        <c:crossAx val="28919479"/>
        <c:crosses val="autoZero"/>
        <c:crossBetween val="between"/>
        <c:majorUnit val="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sz="1300" strike="noStrike" u="none">
                <a:solidFill>
                  <a:srgbClr val="ffffff"/>
                </a:solidFill>
                <a:uFillTx/>
                <a:latin typeface="Calibri"/>
              </a:rPr>
              <a:t>Cuánto cambiaron los datos (PSI)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PSI maximo</c:v>
                </c:pt>
              </c:strCache>
            </c:strRef>
          </c:tx>
          <c:spPr>
            <a:solidFill>
              <a:srgbClr val="2a78d6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Lbls>
            <c:numFmt formatCode="0.000" sourceLinked="0"/>
            <c:dLbl>
              <c:idx val="0"/>
              <c:numFmt formatCode="0.00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200" strike="noStrike" u="none">
                    <a:solidFill>
                      <a:srgbClr val="ffffff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batch1</c:v>
                </c:pt>
                <c:pt idx="1">
                  <c:v>batch2</c:v>
                </c:pt>
                <c:pt idx="2">
                  <c:v>batch3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1.671</c:v>
                </c:pt>
                <c:pt idx="1">
                  <c:v>6.175</c:v>
                </c:pt>
                <c:pt idx="2">
                  <c:v>3.265</c:v>
                </c:pt>
              </c:numCache>
            </c:numRef>
          </c:val>
        </c:ser>
        <c:gapWidth val="150"/>
        <c:overlap val="0"/>
        <c:axId val="31937365"/>
        <c:axId val="80565728"/>
      </c:barChart>
      <c:catAx>
        <c:axId val="3193736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afc0d4"/>
                </a:solidFill>
                <a:uFillTx/>
                <a:latin typeface="Calibri"/>
              </a:defRPr>
            </a:pPr>
          </a:p>
        </c:txPr>
        <c:crossAx val="80565728"/>
        <c:crosses val="autoZero"/>
        <c:auto val="1"/>
        <c:lblAlgn val="ctr"/>
        <c:lblOffset val="100"/>
        <c:noMultiLvlLbl val="0"/>
      </c:catAx>
      <c:valAx>
        <c:axId val="80565728"/>
        <c:scaling>
          <c:orientation val="minMax"/>
          <c:max val="7"/>
          <c:min val="0"/>
        </c:scaling>
        <c:delete val="0"/>
        <c:axPos val="l"/>
        <c:majorGridlines>
          <c:spPr>
            <a:ln w="12600">
              <a:solidFill>
                <a:srgbClr val="24374f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afc0d4"/>
                </a:solidFill>
                <a:uFillTx/>
                <a:latin typeface="Calibri"/>
              </a:defRPr>
            </a:pPr>
          </a:p>
        </c:txPr>
        <c:crossAx val="31937365"/>
        <c:crosses val="autoZero"/>
        <c:crossBetween val="between"/>
        <c:majorUnit val="2"/>
      </c:valAx>
      <c:spPr>
        <a:solidFill>
          <a:srgbClr val="0e1a2b"/>
        </a:solidFill>
        <a:ln w="0">
          <a:noFill/>
        </a:ln>
      </c:spPr>
    </c:plotArea>
    <c:plotVisOnly val="1"/>
    <c:dispBlanksAs val="span"/>
  </c:chart>
  <c:spPr>
    <a:solidFill>
      <a:srgbClr val="0e1a2b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sz="1300" strike="noStrike" u="none">
                <a:solidFill>
                  <a:srgbClr val="ffffff"/>
                </a:solidFill>
                <a:uFillTx/>
                <a:latin typeface="Calibri"/>
              </a:rPr>
              <a:t>Cuánto empeoró el modelo (% de MAE)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Degradacion del MAE</c:v>
                </c:pt>
              </c:strCache>
            </c:strRef>
          </c:tx>
          <c:spPr>
            <a:solidFill>
              <a:srgbClr val="eb6834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Lbls>
            <c:numFmt formatCode="\+0.0;\-0.0" sourceLinked="0"/>
            <c:dLbl>
              <c:idx val="0"/>
              <c:numFmt formatCode="\+0.0;\-0.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\+0.0;\-0.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\+0.0;\-0.0" sourceLinked="0"/>
              <c:txPr>
                <a:bodyPr wrap="square"/>
                <a:lstStyle/>
                <a:p>
                  <a:pPr>
                    <a:defRPr b="0" sz="1200" strike="noStrike" u="none">
                      <a:solidFill>
                        <a:srgbClr val="ffffff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200" strike="noStrike" u="none">
                    <a:solidFill>
                      <a:srgbClr val="ffffff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batch1</c:v>
                </c:pt>
                <c:pt idx="1">
                  <c:v>batch2</c:v>
                </c:pt>
                <c:pt idx="2">
                  <c:v>batch3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88.8</c:v>
                </c:pt>
                <c:pt idx="1">
                  <c:v>51.1</c:v>
                </c:pt>
                <c:pt idx="2">
                  <c:v>-3.4</c:v>
                </c:pt>
              </c:numCache>
            </c:numRef>
          </c:val>
        </c:ser>
        <c:gapWidth val="150"/>
        <c:overlap val="0"/>
        <c:axId val="84776037"/>
        <c:axId val="95674149"/>
      </c:barChart>
      <c:catAx>
        <c:axId val="8477603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afc0d4"/>
                </a:solidFill>
                <a:uFillTx/>
                <a:latin typeface="Calibri"/>
              </a:defRPr>
            </a:pPr>
          </a:p>
        </c:txPr>
        <c:crossAx val="95674149"/>
        <c:crosses val="autoZero"/>
        <c:auto val="1"/>
        <c:lblAlgn val="ctr"/>
        <c:lblOffset val="100"/>
        <c:noMultiLvlLbl val="0"/>
      </c:catAx>
      <c:valAx>
        <c:axId val="95674149"/>
        <c:scaling>
          <c:orientation val="minMax"/>
          <c:max val="100"/>
          <c:min val="-20"/>
        </c:scaling>
        <c:delete val="0"/>
        <c:axPos val="l"/>
        <c:majorGridlines>
          <c:spPr>
            <a:ln w="12600">
              <a:solidFill>
                <a:srgbClr val="24374f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afc0d4"/>
                </a:solidFill>
                <a:uFillTx/>
                <a:latin typeface="Calibri"/>
              </a:defRPr>
            </a:pPr>
          </a:p>
        </c:txPr>
        <c:crossAx val="84776037"/>
        <c:crosses val="autoZero"/>
        <c:crossBetween val="between"/>
        <c:majorUnit val="40"/>
      </c:valAx>
      <c:spPr>
        <a:solidFill>
          <a:srgbClr val="0e1a2b"/>
        </a:solidFill>
        <a:ln w="0">
          <a:noFill/>
        </a:ln>
      </c:spPr>
    </c:plotArea>
    <c:plotVisOnly val="1"/>
    <c:dispBlanksAs val="span"/>
  </c:chart>
  <c:spPr>
    <a:solidFill>
      <a:srgbClr val="0e1a2b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s-C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desplazar la diapositiva</a:t>
            </a:r>
            <a:endParaRPr b="0" lang="es-C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0C9FB0-6A7A-4802-87F0-D0A421A10A07}" type="slidenum">
              <a:rPr b="0" lang="es-C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s-C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5C3FEF-58FD-46F5-BC5F-F99697D096A9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0D3C9B-6D68-4D12-93D9-95D2E9941BC1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Primero: separador punto y coma, coma como decimal, columnas y filas vacias. Leido normal, todos los numeros entran como texto.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Segundo: los faltantes no son celdas vacias, vienen escritos como -200. Sin convertirlos, los promedios salen negativos.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Tercero, el punto fuerte: 366 faltantes que en realidad son 16 periodos continuos sin medir, el mayor de 76 horas. Pasar de "hay 366 nulos" a "son 16 apagones" es lo que separa mirar una tabla de entender los datos.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277491-C3DA-452B-BB57-B0E50F80539C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9EA908-C9CB-4EF2-80D7-D5A8C0951469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 Insistir en que la separacion dura/blanda es una decision de diseño, no un descuido.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 falten unas horas sueltas es normal en un equipo real y no justifica botar toda la corrida. Que aparezca una columna que no existia, si: a partir de ahi nada de lo que se calcule significa lo mismo.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 el argumento de fondo: si todas las reglas detuvieran el proceso, la gente terminaria desactivandolas. Unas reglas apagadas no sirven de nada.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 segunda pasada es la que comprueba que la limpieza no rompio nada.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FB6CDF-401D-4C0B-B599-0C02246D75CE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Esta es la lamina que hay que defender mejor. 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A66D3F-53CC-417E-AAB9-11B9AB5514A7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ABF04B-35F0-47C9-8D70-225E17DC2F7E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7B161-0A7C-4783-89BC-DC292C9617BD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 la API armara las variables por su cuenta, cualquier diferencia con el entrenamiento pasaria desapercibida. Ese error tiene nombre: training-serving skew.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 preguntan por que hizo falta exportar el modelo aparte: MLflow guarda rutas absolutas de Windows dentro de mlruns, y dentro del contenedor esas rutas no existen. Al exportarlo, ademas, pudimos sacar MLflow de la imagen entera, y de ahi sale la diferencia de 1.33 GB a 865 MB.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 version fija de Python es para que la imagen no cambie sola de un dia para otro.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9EE1D1-93CE-46CF-929E-A53DB59C3093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 Si el calendario diera PSI alto, el calculo estaria mal. Es nuestra prueba de que la medida esta bien hecha.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Los umbrales 0.10 y 0.25 vienen del riesgo crediticio y no son leyes universales.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Cuidado con el p-valor de Kolmogorov-Smirnov: con miles de filas casi cualquier diferencia sale significativa, por eso nunca decidimos con el solo.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F05967-4633-42D5-B86C-10584DEB0B2E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 Esta es LA lamina del proyecto y responde la pregunta de la seccion Q del enunciado. Que quede claro que no es teoria: son nuestros tres lotes. batch1 +88.8%, batch2 +51.1%, batch3 -3.4%.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El lote 3 tiene un PSI de 3.265, trece veces el umbral de alerta, y aun asi el modelo acierta mejor. Si el disparador mirara solo el drift, habriamos reentrenado un modelo que estaba funcionando bien.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 del reves tiene nombre: concept drift, y el PSI no lo ve.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El monitoreo del modelo solo se puede medir un dia despues, porque el horizonte es de 24 horas.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49C17C-21EE-4332-A6A6-9E0AEA86468F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 Si preguntan por que no automatizamos: no es que no supieramos hacerlo, es una decision justificada por el tamaño del historico. Con un solo modelo y trece meses de historia, un reentrenamiento automatico puede reemplazar un modelo bueno por uno peor sin que nadie se entere.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 mas datos y una comparacion previa contra el modelo vigente, si lo automatizariamos.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Cuando el sistema dice REENTRENAR queda registrado en el log y en el reporte.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8383E6-55F5-4A1C-880D-7C3F297FCFB0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Nicole. La prueba que mas nos importa se llama test_no_reentrena_solo_por_drift: si se pusiera en rojo, estariamos botando modelos que funcionan.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Contar el error de R05 sin adornos: lo encontramos nosotras con la simulacion, lo corregimos y quedo la prueba. Sin esa simulacion habria aparecido el dia que un sensor mandara texto por un fallo de formato, en produccion y no en una prueba. Eso vale mas que decir que todo salio bien a la primera.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 del archivo intacto se comprueba con el md5: es el mismo antes y despues.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7ACF44-57FD-430A-8936-7064804E1AF0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4A87A6-0587-4051-90FA-75A011814723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Aprendio de una sola ciudad y un solo invierno, asi que no puede distinguir "asi es el invierno" de "asi fue este invierno". Son trece meses: poco para una serie con estaciones.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Otros dos limites por si preguntan: los umbrales del PSI vienen prestados del riesgo crediticio, y el umbral de degradacion habria que fijarlo con datos del negocio.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 preguntan que le falta para ser un sistema de empresa: que las pruebas corran solas al subir codigo, y guardar lo que la API va prediciendo. Lo sabemos y esta en el informe.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81BA9E-818A-4B60-A373-35B5648AE858}" type="slidenum">
              <a:rPr b="0" lang="es-CR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es-C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C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C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C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C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C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C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540000" y="803520"/>
            <a:ext cx="455760" cy="45576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17760" y="1578240"/>
            <a:ext cx="767952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5199"/>
              </a:lnSpc>
              <a:tabLst>
                <a:tab algn="l" pos="0"/>
              </a:tabLst>
            </a:pPr>
            <a:r>
              <a:rPr b="1" lang="es-CR" sz="46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Pronóstico de benceno</a:t>
            </a:r>
            <a:endParaRPr b="0" lang="es-C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99"/>
              </a:lnSpc>
              <a:tabLst>
                <a:tab algn="l" pos="0"/>
              </a:tabLst>
            </a:pPr>
            <a:r>
              <a:rPr b="1" lang="es-CR" sz="46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24 horas</a:t>
            </a:r>
            <a:endParaRPr b="0" lang="es-CR" sz="4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67000" y="3562200"/>
            <a:ext cx="7679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s-CR" sz="16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Un sistema MLOps completo: de los datos crudos a un servicio vigilado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67000" y="4617720"/>
            <a:ext cx="2010240" cy="25920"/>
          </a:xfrm>
          <a:prstGeom prst="rect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67000" y="48920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Grupo #8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67000" y="52488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Mayarling Martínez  ·  Nicole Chavarría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67000" y="5742360"/>
            <a:ext cx="7679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7e93ad"/>
                </a:solidFill>
                <a:effectLst/>
                <a:uFillTx/>
                <a:latin typeface="Calibri"/>
                <a:ea typeface="Calibri"/>
              </a:rPr>
              <a:t>Dataset Air Quality de UCI   ·   github.com/Mayarling/AirQuality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8549640" y="1737360"/>
            <a:ext cx="3061800" cy="3976200"/>
          </a:xfrm>
          <a:prstGeom prst="roundRect">
            <a:avLst>
              <a:gd name="adj" fmla="val 2388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8549640" y="1965960"/>
            <a:ext cx="306180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1baf7a"/>
                </a:solidFill>
                <a:effectLst/>
                <a:uFillTx/>
                <a:latin typeface="Cambria"/>
                <a:ea typeface="Cambria"/>
              </a:rPr>
              <a:t>2.905</a:t>
            </a:r>
            <a:endParaRPr b="0" lang="es-CR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8549640" y="2624400"/>
            <a:ext cx="3061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MAE en µg/m³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8549640" y="3154680"/>
            <a:ext cx="306180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27.8%</a:t>
            </a:r>
            <a:endParaRPr b="0" lang="es-CR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8549640" y="3813120"/>
            <a:ext cx="3061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menos error que el baseline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8549640" y="4343400"/>
            <a:ext cx="306180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eb6834"/>
                </a:solidFill>
                <a:effectLst/>
                <a:uFillTx/>
                <a:latin typeface="Cambria"/>
                <a:ea typeface="Cambria"/>
              </a:rPr>
              <a:t>56</a:t>
            </a:r>
            <a:endParaRPr b="0" lang="es-CR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8549640" y="5001840"/>
            <a:ext cx="3061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pruebas automáticas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El problema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Pronosticar el benceno del aire con un día de anticipación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67000" y="1645920"/>
            <a:ext cx="585072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benceno sale del tráfico y es cancerígeno. No hay un nivel seguro.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Con un día de aviso se puede actuar. Con una hora, no.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540000" y="3060000"/>
            <a:ext cx="5850720" cy="164448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728640" y="3271680"/>
            <a:ext cx="52106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La restricción que gobierna todo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720000" y="3704040"/>
            <a:ext cx="52106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Hoy no podemos usar ningún dato de las próximas 23 horas.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6647040" y="1080000"/>
            <a:ext cx="4872240" cy="4616280"/>
          </a:xfrm>
          <a:prstGeom prst="roundRect">
            <a:avLst>
              <a:gd name="adj" fmla="val 158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/>
          <p:cNvSpPr/>
          <p:nvPr/>
        </p:nvSpPr>
        <p:spPr>
          <a:xfrm>
            <a:off x="7031880" y="1370520"/>
            <a:ext cx="42962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Cómo medimos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7031880" y="1871640"/>
            <a:ext cx="42505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MAE en µg/m³: cuántos microgramos nos equivocamos en promedio.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1"/>
          <p:cNvSpPr/>
          <p:nvPr/>
        </p:nvSpPr>
        <p:spPr>
          <a:xfrm>
            <a:off x="7031880" y="2732400"/>
            <a:ext cx="42962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¿Por qué el MAPE no sirve?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7031880" y="3161520"/>
            <a:ext cx="42505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porcentaje engaña cuando el benceno está bajo.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3"/>
          <p:cNvSpPr/>
          <p:nvPr/>
        </p:nvSpPr>
        <p:spPr>
          <a:xfrm>
            <a:off x="7031880" y="3930840"/>
            <a:ext cx="42962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Las metas, fijadas antes de entrenar: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7031880" y="4450320"/>
            <a:ext cx="42505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Ganarle al menos 10% al baseline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No pasar de 5 µg/m³ de error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Los datos, y lo que encontramos al leerlos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Air Quality de UCI · 9 357 horas seguidas · marzo 2004 a abril 2005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4"/>
          <p:cNvSpPr/>
          <p:nvPr/>
        </p:nvSpPr>
        <p:spPr>
          <a:xfrm>
            <a:off x="567000" y="1783080"/>
            <a:ext cx="419040" cy="419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567000" y="1783080"/>
            <a:ext cx="4190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1188720" y="1728360"/>
            <a:ext cx="58507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archivo está mal formado para lectura directa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567000" y="2834640"/>
            <a:ext cx="419040" cy="419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567000" y="2834640"/>
            <a:ext cx="4190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9"/>
          <p:cNvSpPr/>
          <p:nvPr/>
        </p:nvSpPr>
        <p:spPr>
          <a:xfrm>
            <a:off x="1188720" y="2779920"/>
            <a:ext cx="58507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Los faltantes vienen escritos como −200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567000" y="3886200"/>
            <a:ext cx="419040" cy="41904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567000" y="3886200"/>
            <a:ext cx="4190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1188720" y="3831480"/>
            <a:ext cx="58507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Los huecos no están sueltos: son apagones del equipo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567000" y="5029200"/>
            <a:ext cx="6490800" cy="123300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877680" y="5029200"/>
            <a:ext cx="59421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Interpolamos solo los huecos de hasta 3 horas. Rellenar tres días seguidos sería inventar datos.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5"/>
          <p:cNvSpPr/>
          <p:nvPr/>
        </p:nvSpPr>
        <p:spPr>
          <a:xfrm>
            <a:off x="7452360" y="1737360"/>
            <a:ext cx="4159080" cy="452484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7452360" y="1965960"/>
            <a:ext cx="41590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9 357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7452360" y="2624400"/>
            <a:ext cx="4159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horas en el archivo original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7452360" y="3291840"/>
            <a:ext cx="41590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eb6834"/>
                </a:solidFill>
                <a:effectLst/>
                <a:uFillTx/>
                <a:latin typeface="Cambria"/>
                <a:ea typeface="Cambria"/>
              </a:rPr>
              <a:t>16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9"/>
          <p:cNvSpPr/>
          <p:nvPr/>
        </p:nvSpPr>
        <p:spPr>
          <a:xfrm>
            <a:off x="7452360" y="3950280"/>
            <a:ext cx="4159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apagones, el mayor de 76 horas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7452360" y="4617720"/>
            <a:ext cx="41590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5c6570"/>
                </a:solidFill>
                <a:effectLst/>
                <a:uFillTx/>
                <a:latin typeface="Cambria"/>
                <a:ea typeface="Cambria"/>
              </a:rPr>
              <a:t>90.23%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1"/>
          <p:cNvSpPr/>
          <p:nvPr/>
        </p:nvSpPr>
        <p:spPr>
          <a:xfrm>
            <a:off x="7452360" y="5276160"/>
            <a:ext cx="4159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de NMHC(GT) son faltantes: se descarta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Arquitectura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Cada caja lleva debajo el archivo del repositorio que la implementa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0" descr="/home/claude/trabajo/repo/reports/figuras/12_arquitectura_lamina.png"/>
          <p:cNvPicPr/>
          <p:nvPr/>
        </p:nvPicPr>
        <p:blipFill>
          <a:blip r:embed="rId1"/>
          <a:stretch/>
        </p:blipFill>
        <p:spPr>
          <a:xfrm>
            <a:off x="658440" y="1371600"/>
            <a:ext cx="10879920" cy="498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Data Quality Gates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Nueve reglas: siente antes de limpiar y cinco después 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567000" y="1645920"/>
            <a:ext cx="5576400" cy="4616280"/>
          </a:xfrm>
          <a:prstGeom prst="roundRect">
            <a:avLst>
              <a:gd name="adj" fmla="val 158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877680" y="1847160"/>
            <a:ext cx="4936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Reglas duras - detienen el proceso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877680" y="2286000"/>
            <a:ext cx="493632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R01   esquema de columnas esperado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R02   cantidad mínima de filas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R03   sin marcas de tiempo repetidas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R05   valores en rangos posibles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R07   menos de 1% de duplicados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R08   el objetivo no tiene ningún hueco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R09   Sin valores infinitos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"/>
          <p:cNvSpPr/>
          <p:nvPr/>
        </p:nvSpPr>
        <p:spPr>
          <a:xfrm>
            <a:off x="877680" y="4559400"/>
            <a:ext cx="4936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Reglas blandas - avisan y siguen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8"/>
          <p:cNvSpPr/>
          <p:nvPr/>
        </p:nvSpPr>
        <p:spPr>
          <a:xfrm>
            <a:off x="877680" y="4782240"/>
            <a:ext cx="49363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R04   serie horaria continua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s-CR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R06   target con menos de 10% de huecos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algn="l" pos="0"/>
              </a:tabLst>
            </a:pP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9"/>
          <p:cNvSpPr/>
          <p:nvPr/>
        </p:nvSpPr>
        <p:spPr>
          <a:xfrm>
            <a:off x="6492240" y="1645920"/>
            <a:ext cx="5119200" cy="4616280"/>
          </a:xfrm>
          <a:prstGeom prst="roundRect">
            <a:avLst>
              <a:gd name="adj" fmla="val 158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0"/>
          <p:cNvSpPr/>
          <p:nvPr/>
        </p:nvSpPr>
        <p:spPr>
          <a:xfrm>
            <a:off x="6803280" y="1847160"/>
            <a:ext cx="45705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Por qué la diferencia importa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6803280" y="2394000"/>
            <a:ext cx="452484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Que falten unas horas es normal: avisa y sigue.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s-CR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Que aparezca una columna nueva, no: se detiene.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6803280" y="4098240"/>
            <a:ext cx="45705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Corren dos veces, y no es repetición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6803280" y="4645080"/>
            <a:ext cx="45248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A la entrada sobre los datos crudos, y a la salida sobre los ya limpios.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es-C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 decisión de la que estamos más conformes</a:t>
            </a:r>
            <a:endParaRPr b="0" lang="es-C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El anti-leakage no está en un comentario: está programado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"/>
          <p:cNvSpPr/>
          <p:nvPr/>
        </p:nvSpPr>
        <p:spPr>
          <a:xfrm>
            <a:off x="567000" y="1737360"/>
            <a:ext cx="5393520" cy="2513160"/>
          </a:xfrm>
          <a:prstGeom prst="roundRect">
            <a:avLst>
              <a:gd name="adj" fmla="val 2909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877680" y="2011680"/>
            <a:ext cx="479916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 predecir dentro de 24 horas, el dato más nuevo que existe es el de ahora.</a:t>
            </a: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877680" y="3200400"/>
            <a:ext cx="4799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Si alguien pide un dato que todavía no existe, el programa se cae.</a:t>
            </a:r>
            <a:endParaRPr b="0" lang="es-CR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6355080" y="1737360"/>
            <a:ext cx="5256360" cy="2513160"/>
          </a:xfrm>
          <a:prstGeom prst="roundRect">
            <a:avLst>
              <a:gd name="adj" fmla="val 2909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6675120" y="2103120"/>
            <a:ext cx="466200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599"/>
              </a:lnSpc>
              <a:tabLst>
                <a:tab algn="l" pos="0"/>
              </a:tabLst>
            </a:pPr>
            <a:r>
              <a:rPr b="0" lang="en-US" sz="145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def _validar_rezago(rezago, horizonte):</a:t>
            </a:r>
            <a:endParaRPr b="0" lang="es-C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algn="l" pos="0"/>
              </a:tabLst>
            </a:pPr>
            <a:r>
              <a:rPr b="0" lang="en-US" sz="145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    if rezago &lt; horizonte:</a:t>
            </a:r>
            <a:endParaRPr b="0" lang="es-C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algn="l" pos="0"/>
              </a:tabLst>
            </a:pPr>
            <a:r>
              <a:rPr b="0" lang="en-US" sz="145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        raise ErrorDeLeakage(...)</a:t>
            </a:r>
            <a:endParaRPr b="0" lang="es-CR" sz="14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6355080" y="4434840"/>
            <a:ext cx="52563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Excepción a propósito: el calendario sí mira mañana. Qué día será se sabe hoy.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0"/>
          <p:cNvSpPr/>
          <p:nvPr/>
        </p:nvSpPr>
        <p:spPr>
          <a:xfrm>
            <a:off x="567000" y="5166360"/>
            <a:ext cx="11026080" cy="1095840"/>
          </a:xfrm>
          <a:prstGeom prst="roundRect">
            <a:avLst>
              <a:gd name="adj" fmla="val 6667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877680" y="5166360"/>
            <a:ext cx="104227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 sensor PT08.S2 se parece casi exactamente al benceno. Usarlo sin rezagar daría números preciosos y un modelo inútil.</a:t>
            </a:r>
            <a:endParaRPr b="0" lang="es-CR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Cuatro modelos, y cómo se escogió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No gana el mejor: gana el que cumple los tres criterios fijados de antemano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Chart 0"/>
          <p:cNvGraphicFramePr/>
          <p:nvPr/>
        </p:nvGraphicFramePr>
        <p:xfrm>
          <a:off x="567000" y="1645920"/>
          <a:ext cx="5942160" cy="374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5" name="Text 4"/>
          <p:cNvSpPr/>
          <p:nvPr/>
        </p:nvSpPr>
        <p:spPr>
          <a:xfrm>
            <a:off x="567000" y="5486400"/>
            <a:ext cx="59421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El baseline es repetir el valor de ayer a la misma hora.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6858000" y="1783080"/>
            <a:ext cx="4753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Los tres criterios, fijados antes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6858000" y="2240280"/>
            <a:ext cx="475344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Ganarle al baseline por 10% de MAE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Validación no más de 60% peor que entrenamiento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MAE por debajo de 5.0 µg/m³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858000" y="4114800"/>
            <a:ext cx="4753440" cy="214740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7150680" y="4316040"/>
            <a:ext cx="42048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El criterio funcionó solo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7150680" y="4754880"/>
            <a:ext cx="420480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random_forest quedó rechazado: se degradaba 68.4%.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Gana gradient_boosting con 2.905 µg/m³.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Trazabilidad con MLflow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Experimento air-quality-benceno-24h · modelo grupo8-benceno-24h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4"/>
          <p:cNvSpPr/>
          <p:nvPr/>
        </p:nvSpPr>
        <p:spPr>
          <a:xfrm>
            <a:off x="567000" y="1691640"/>
            <a:ext cx="2549880" cy="169020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567000" y="1828800"/>
            <a:ext cx="25498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15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567000" y="2487240"/>
            <a:ext cx="25498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parámetros por corrida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"/>
          <p:cNvSpPr/>
          <p:nvPr/>
        </p:nvSpPr>
        <p:spPr>
          <a:xfrm>
            <a:off x="3392280" y="1691640"/>
            <a:ext cx="2549880" cy="169020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3392280" y="1828800"/>
            <a:ext cx="25498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42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3392280" y="2487240"/>
            <a:ext cx="25498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métricas por corrida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6217920" y="1691640"/>
            <a:ext cx="2549880" cy="169020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6217920" y="1828800"/>
            <a:ext cx="25498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1baf7a"/>
                </a:solidFill>
                <a:effectLst/>
                <a:uFillTx/>
                <a:latin typeface="Cambria"/>
                <a:ea typeface="Cambria"/>
              </a:rPr>
              <a:t>5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6217920" y="2487240"/>
            <a:ext cx="25498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artefactos por corrida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9043560" y="1691640"/>
            <a:ext cx="2549880" cy="1690200"/>
          </a:xfrm>
          <a:prstGeom prst="roundRect">
            <a:avLst>
              <a:gd name="adj" fmla="val 432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9043560" y="1828800"/>
            <a:ext cx="25498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eb6834"/>
                </a:solidFill>
                <a:effectLst/>
                <a:uFillTx/>
                <a:latin typeface="Cambria"/>
                <a:ea typeface="Cambria"/>
              </a:rPr>
              <a:t>2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9043560" y="2487240"/>
            <a:ext cx="25498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versiones registradas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6"/>
          <p:cNvSpPr/>
          <p:nvPr/>
        </p:nvSpPr>
        <p:spPr>
          <a:xfrm>
            <a:off x="567000" y="3611880"/>
            <a:ext cx="5375160" cy="265032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877680" y="3822120"/>
            <a:ext cx="48448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El ciclo de vida, con alias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877680" y="4297680"/>
            <a:ext cx="4844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Experiment  →  candidato  →  produccion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877680" y="4892040"/>
            <a:ext cx="484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Solo pasa a produccion si cumple los tres criterios.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0"/>
          <p:cNvSpPr/>
          <p:nvPr/>
        </p:nvSpPr>
        <p:spPr>
          <a:xfrm>
            <a:off x="6217920" y="3611880"/>
            <a:ext cx="5375160" cy="265032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6528960" y="3822120"/>
            <a:ext cx="47901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Dos cosas que valen doble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6528960" y="4279320"/>
            <a:ext cx="475344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Guardamos la huella del archivo de datos: de cualquier modelo se sabe con qué datos se entrenó.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Entrenamos dos veces y las métricas salieron idénticas.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El servicio: API y contenedor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Seis endpoints en FastAPI, dentro de una imagen reproducible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567000" y="1645920"/>
            <a:ext cx="5576400" cy="201024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877680" y="1828800"/>
            <a:ext cx="4936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La decisión importante de la API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877680" y="2286000"/>
            <a:ext cx="49363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La entrada son las últimas 145 horas de mediciones, no las variables ya calculadas. La API las arma con la misma función del entrenamiento.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567000" y="3840480"/>
            <a:ext cx="5576400" cy="2421720"/>
          </a:xfrm>
          <a:prstGeom prst="roundRect">
            <a:avLst>
              <a:gd name="adj" fmla="val 3019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877680" y="4023360"/>
            <a:ext cx="4936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Los seis endpoints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877680" y="4462200"/>
            <a:ext cx="502776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GET   /               información del servicio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GET   /health         si está vivo y si cargó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GET   /model-info     qué modelo y qué versión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GET   /metrics        latencia y disponibilidad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POST  /predict        un pronóstico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POST  /predict/batch  varios de una vez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6309360" y="1737360"/>
            <a:ext cx="5302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Las cuatro decisiones de la imagen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6309360" y="2194560"/>
            <a:ext cx="5302080" cy="21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Versión fija de Python, nunca latest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Los requisitos antes que el código, para la caché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Solo lo que la API necesita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Corre con un usuario sin privilegios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6309360" y="4297680"/>
            <a:ext cx="5302080" cy="196452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6620400" y="4462200"/>
            <a:ext cx="4753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Lo medimos construyendo las dos imágenes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4"/>
          <p:cNvSpPr/>
          <p:nvPr/>
        </p:nvSpPr>
        <p:spPr>
          <a:xfrm>
            <a:off x="6492240" y="4892040"/>
            <a:ext cx="237600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5c6570"/>
                </a:solidFill>
                <a:effectLst/>
                <a:uFillTx/>
                <a:latin typeface="Cambria"/>
                <a:ea typeface="Cambria"/>
              </a:rPr>
              <a:t>1.33 GB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5"/>
          <p:cNvSpPr/>
          <p:nvPr/>
        </p:nvSpPr>
        <p:spPr>
          <a:xfrm>
            <a:off x="6492240" y="5550480"/>
            <a:ext cx="2376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con todo instalado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6"/>
          <p:cNvSpPr/>
          <p:nvPr/>
        </p:nvSpPr>
        <p:spPr>
          <a:xfrm>
            <a:off x="9006840" y="4892040"/>
            <a:ext cx="237600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1baf7a"/>
                </a:solidFill>
                <a:effectLst/>
                <a:uFillTx/>
                <a:latin typeface="Cambria"/>
                <a:ea typeface="Cambria"/>
              </a:rPr>
              <a:t>865 MB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7"/>
          <p:cNvSpPr/>
          <p:nvPr/>
        </p:nvSpPr>
        <p:spPr>
          <a:xfrm>
            <a:off x="9006840" y="5550480"/>
            <a:ext cx="23760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solo lo que la API usa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Monitoreo en tres dimensiones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Sistema, datos y modelo. Ninguno reemplaza a los otros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567000" y="1645920"/>
            <a:ext cx="3473280" cy="228456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5"/>
          <p:cNvSpPr/>
          <p:nvPr/>
        </p:nvSpPr>
        <p:spPr>
          <a:xfrm>
            <a:off x="841320" y="1874520"/>
            <a:ext cx="364320" cy="36432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1344240" y="1874520"/>
            <a:ext cx="2467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Sistema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7"/>
          <p:cNvSpPr/>
          <p:nvPr/>
        </p:nvSpPr>
        <p:spPr>
          <a:xfrm>
            <a:off x="841320" y="239580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latencia, errores y disponibilidad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841320" y="3291840"/>
            <a:ext cx="3016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onsolas"/>
                <a:ea typeface="Consolas"/>
              </a:rPr>
              <a:t>GET /metrics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9"/>
          <p:cNvSpPr/>
          <p:nvPr/>
        </p:nvSpPr>
        <p:spPr>
          <a:xfrm>
            <a:off x="4316040" y="1645920"/>
            <a:ext cx="3473280" cy="228456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4590360" y="1874520"/>
            <a:ext cx="364320" cy="36432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5093280" y="1874520"/>
            <a:ext cx="2467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Datos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4590360" y="239580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que las distribuciones no cambien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4590360" y="3291840"/>
            <a:ext cx="3016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onsolas"/>
                <a:ea typeface="Consolas"/>
              </a:rPr>
              <a:t>src/monitoring/drift.py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8065080" y="1645920"/>
            <a:ext cx="3473280" cy="228456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8339400" y="1874520"/>
            <a:ext cx="364320" cy="36432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8842320" y="1874520"/>
            <a:ext cx="2467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Modelo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8339400" y="239580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que el pronóstico siga acertando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8"/>
          <p:cNvSpPr/>
          <p:nvPr/>
        </p:nvSpPr>
        <p:spPr>
          <a:xfrm>
            <a:off x="8339400" y="3291840"/>
            <a:ext cx="3016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onsolas"/>
                <a:ea typeface="Consolas"/>
              </a:rPr>
              <a:t>src/monitoring/model_metrics.py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567000" y="4206240"/>
            <a:ext cx="54849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Cuatro medidas de cambio, no una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0"/>
          <p:cNvSpPr/>
          <p:nvPr/>
        </p:nvSpPr>
        <p:spPr>
          <a:xfrm>
            <a:off x="567000" y="4663440"/>
            <a:ext cx="5484960" cy="16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PSI — es la que usamos para decidir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Kolmogorov-Smirnov — distancia entre curvas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Wasserstein — cuánto habría que mover los datos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2181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Jensen-Shannon — qué tan distintas son, de 0 a 1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1"/>
          <p:cNvSpPr/>
          <p:nvPr/>
        </p:nvSpPr>
        <p:spPr>
          <a:xfrm>
            <a:off x="6400800" y="4206240"/>
            <a:ext cx="5210640" cy="2055960"/>
          </a:xfrm>
          <a:prstGeom prst="roundRect">
            <a:avLst>
              <a:gd name="adj" fmla="val 355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2"/>
          <p:cNvSpPr/>
          <p:nvPr/>
        </p:nvSpPr>
        <p:spPr>
          <a:xfrm>
            <a:off x="6711840" y="4389120"/>
            <a:ext cx="46620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La comprobación de que el cálculo está bien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3"/>
          <p:cNvSpPr/>
          <p:nvPr/>
        </p:nvSpPr>
        <p:spPr>
          <a:xfrm>
            <a:off x="6711840" y="4846320"/>
            <a:ext cx="461628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calendario da PSI casi cero. Tiene que ser así: las horas y los días no cambian entre periodos.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b="0" lang="es-C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Drift no es lo mismo que degradación</a:t>
            </a:r>
            <a:endParaRPr b="0" lang="es-C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El hallazgo principal del monitoreo, medido con nuestros propios datos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Chart 0"/>
          <p:cNvGraphicFramePr/>
          <p:nvPr/>
        </p:nvGraphicFramePr>
        <p:xfrm>
          <a:off x="567000" y="1645920"/>
          <a:ext cx="3473280" cy="301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71" name="Chart 1"/>
          <p:cNvGraphicFramePr/>
          <p:nvPr/>
        </p:nvGraphicFramePr>
        <p:xfrm>
          <a:off x="4178880" y="1645920"/>
          <a:ext cx="3473280" cy="301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2" name="Shape 4"/>
          <p:cNvSpPr/>
          <p:nvPr/>
        </p:nvSpPr>
        <p:spPr>
          <a:xfrm>
            <a:off x="567000" y="4846320"/>
            <a:ext cx="7085160" cy="1415880"/>
          </a:xfrm>
          <a:prstGeom prst="roundRect">
            <a:avLst>
              <a:gd name="adj" fmla="val 5161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877680" y="4846320"/>
            <a:ext cx="649080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 lote 3 cambió muchísimo y el modelo acertó un 3.4% MEJOR que en validación.</a:t>
            </a:r>
            <a:endParaRPr b="0" lang="es-CR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8001000" y="1737360"/>
            <a:ext cx="3610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Por qué puede pasar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7"/>
          <p:cNvSpPr/>
          <p:nvPr/>
        </p:nvSpPr>
        <p:spPr>
          <a:xfrm>
            <a:off x="8001000" y="2194560"/>
            <a:ext cx="3610440" cy="255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 modelo aprendió la relación, no los valores.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 cambio puede estar donde al modelo no le importa.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 al revés: puede empeorar sin que los datos cambien.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8"/>
          <p:cNvSpPr/>
          <p:nvPr/>
        </p:nvSpPr>
        <p:spPr>
          <a:xfrm>
            <a:off x="8001000" y="4846320"/>
            <a:ext cx="3610440" cy="1415880"/>
          </a:xfrm>
          <a:prstGeom prst="roundRect">
            <a:avLst>
              <a:gd name="adj" fmla="val 5161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9"/>
          <p:cNvSpPr/>
          <p:nvPr/>
        </p:nvSpPr>
        <p:spPr>
          <a:xfrm>
            <a:off x="8275320" y="4846320"/>
            <a:ext cx="31075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Los datos avisan temprano. El modelo confirma el daño un día después.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Cuándo reentrenar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Hacen falta las dos condiciones a la vez, no una sola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4"/>
          <p:cNvSpPr/>
          <p:nvPr/>
        </p:nvSpPr>
        <p:spPr>
          <a:xfrm>
            <a:off x="567000" y="1645920"/>
            <a:ext cx="5210640" cy="178164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877680" y="1828800"/>
            <a:ext cx="466200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SI    el PSI más alto ≥ 0.25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Y     el MAE empeoró más de 25%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Y     el lote trae ≥ 200 filas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2181f"/>
                </a:solidFill>
                <a:effectLst/>
                <a:uFillTx/>
                <a:latin typeface="Consolas"/>
                <a:ea typeface="Consolas"/>
              </a:rPr>
              <a:t>ENTONCES  reentrenar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6"/>
          <p:cNvSpPr/>
          <p:nvPr/>
        </p:nvSpPr>
        <p:spPr>
          <a:xfrm>
            <a:off x="567000" y="3657600"/>
            <a:ext cx="2513160" cy="123300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768240" y="3767400"/>
            <a:ext cx="2147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REENTRENAR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8"/>
          <p:cNvSpPr/>
          <p:nvPr/>
        </p:nvSpPr>
        <p:spPr>
          <a:xfrm>
            <a:off x="768240" y="407808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cambio sí · daño sí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9"/>
          <p:cNvSpPr/>
          <p:nvPr/>
        </p:nvSpPr>
        <p:spPr>
          <a:xfrm>
            <a:off x="768240" y="4352400"/>
            <a:ext cx="2147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hay que volver a entrenar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0"/>
          <p:cNvSpPr/>
          <p:nvPr/>
        </p:nvSpPr>
        <p:spPr>
          <a:xfrm>
            <a:off x="3264480" y="3657600"/>
            <a:ext cx="2513160" cy="123300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1"/>
          <p:cNvSpPr/>
          <p:nvPr/>
        </p:nvSpPr>
        <p:spPr>
          <a:xfrm>
            <a:off x="3465720" y="3767400"/>
            <a:ext cx="2147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VIGILAR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2"/>
          <p:cNvSpPr/>
          <p:nvPr/>
        </p:nvSpPr>
        <p:spPr>
          <a:xfrm>
            <a:off x="3465720" y="407808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cambio sí · daño no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3"/>
          <p:cNvSpPr/>
          <p:nvPr/>
        </p:nvSpPr>
        <p:spPr>
          <a:xfrm>
            <a:off x="3465720" y="4352400"/>
            <a:ext cx="2147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modelo aguanta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4"/>
          <p:cNvSpPr/>
          <p:nvPr/>
        </p:nvSpPr>
        <p:spPr>
          <a:xfrm>
            <a:off x="567000" y="5010840"/>
            <a:ext cx="2513160" cy="123300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5"/>
          <p:cNvSpPr/>
          <p:nvPr/>
        </p:nvSpPr>
        <p:spPr>
          <a:xfrm>
            <a:off x="768240" y="5120640"/>
            <a:ext cx="2147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REVISAR_DATOS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6"/>
          <p:cNvSpPr/>
          <p:nvPr/>
        </p:nvSpPr>
        <p:spPr>
          <a:xfrm>
            <a:off x="768240" y="543168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cambio no · daño sí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7"/>
          <p:cNvSpPr/>
          <p:nvPr/>
        </p:nvSpPr>
        <p:spPr>
          <a:xfrm>
            <a:off x="768240" y="5706000"/>
            <a:ext cx="2147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algo pasa que el PSI no ve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8"/>
          <p:cNvSpPr/>
          <p:nvPr/>
        </p:nvSpPr>
        <p:spPr>
          <a:xfrm>
            <a:off x="3264480" y="5010840"/>
            <a:ext cx="2513160" cy="1233000"/>
          </a:xfrm>
          <a:prstGeom prst="roundRect">
            <a:avLst>
              <a:gd name="adj" fmla="val 5926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9"/>
          <p:cNvSpPr/>
          <p:nvPr/>
        </p:nvSpPr>
        <p:spPr>
          <a:xfrm>
            <a:off x="3465720" y="5120640"/>
            <a:ext cx="21474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TODO_BIEN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0"/>
          <p:cNvSpPr/>
          <p:nvPr/>
        </p:nvSpPr>
        <p:spPr>
          <a:xfrm>
            <a:off x="3465720" y="543168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cambio no · daño no</a:t>
            </a:r>
            <a:endParaRPr b="0" lang="es-C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1"/>
          <p:cNvSpPr/>
          <p:nvPr/>
        </p:nvSpPr>
        <p:spPr>
          <a:xfrm>
            <a:off x="3465720" y="5706000"/>
            <a:ext cx="214740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seguir midiendo</a:t>
            </a:r>
            <a:endParaRPr b="0" lang="es-C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2"/>
          <p:cNvSpPr/>
          <p:nvPr/>
        </p:nvSpPr>
        <p:spPr>
          <a:xfrm>
            <a:off x="6080760" y="1783080"/>
            <a:ext cx="5530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Lo que decidió con nuestros lotes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3"/>
          <p:cNvSpPr/>
          <p:nvPr/>
        </p:nvSpPr>
        <p:spPr>
          <a:xfrm>
            <a:off x="6080760" y="2286000"/>
            <a:ext cx="5530680" cy="620280"/>
          </a:xfrm>
          <a:prstGeom prst="roundRect">
            <a:avLst>
              <a:gd name="adj" fmla="val 11765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4"/>
          <p:cNvSpPr/>
          <p:nvPr/>
        </p:nvSpPr>
        <p:spPr>
          <a:xfrm>
            <a:off x="6309360" y="2286000"/>
            <a:ext cx="10501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batch1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5"/>
          <p:cNvSpPr/>
          <p:nvPr/>
        </p:nvSpPr>
        <p:spPr>
          <a:xfrm>
            <a:off x="7360920" y="2286000"/>
            <a:ext cx="1370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PSI 1.671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6"/>
          <p:cNvSpPr/>
          <p:nvPr/>
        </p:nvSpPr>
        <p:spPr>
          <a:xfrm>
            <a:off x="8732520" y="2286000"/>
            <a:ext cx="109584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+88.8%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7"/>
          <p:cNvSpPr/>
          <p:nvPr/>
        </p:nvSpPr>
        <p:spPr>
          <a:xfrm>
            <a:off x="9875520" y="2286000"/>
            <a:ext cx="15987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REENTRENAR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8"/>
          <p:cNvSpPr/>
          <p:nvPr/>
        </p:nvSpPr>
        <p:spPr>
          <a:xfrm>
            <a:off x="6080760" y="3017520"/>
            <a:ext cx="5530680" cy="620280"/>
          </a:xfrm>
          <a:prstGeom prst="roundRect">
            <a:avLst>
              <a:gd name="adj" fmla="val 11765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9"/>
          <p:cNvSpPr/>
          <p:nvPr/>
        </p:nvSpPr>
        <p:spPr>
          <a:xfrm>
            <a:off x="6309360" y="3017520"/>
            <a:ext cx="10501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batch2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0"/>
          <p:cNvSpPr/>
          <p:nvPr/>
        </p:nvSpPr>
        <p:spPr>
          <a:xfrm>
            <a:off x="7360920" y="3017520"/>
            <a:ext cx="1370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PSI 6.175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1"/>
          <p:cNvSpPr/>
          <p:nvPr/>
        </p:nvSpPr>
        <p:spPr>
          <a:xfrm>
            <a:off x="8732520" y="3017520"/>
            <a:ext cx="109584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+51.1%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2"/>
          <p:cNvSpPr/>
          <p:nvPr/>
        </p:nvSpPr>
        <p:spPr>
          <a:xfrm>
            <a:off x="9875520" y="3017520"/>
            <a:ext cx="15987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REENTRENAR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3"/>
          <p:cNvSpPr/>
          <p:nvPr/>
        </p:nvSpPr>
        <p:spPr>
          <a:xfrm>
            <a:off x="6080760" y="3749040"/>
            <a:ext cx="5530680" cy="620280"/>
          </a:xfrm>
          <a:prstGeom prst="roundRect">
            <a:avLst>
              <a:gd name="adj" fmla="val 11765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34"/>
          <p:cNvSpPr/>
          <p:nvPr/>
        </p:nvSpPr>
        <p:spPr>
          <a:xfrm>
            <a:off x="6309360" y="3749040"/>
            <a:ext cx="10501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batch3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5"/>
          <p:cNvSpPr/>
          <p:nvPr/>
        </p:nvSpPr>
        <p:spPr>
          <a:xfrm>
            <a:off x="7360920" y="3749040"/>
            <a:ext cx="1370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PSI 3.265</a:t>
            </a:r>
            <a:endParaRPr b="0" lang="es-C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6"/>
          <p:cNvSpPr/>
          <p:nvPr/>
        </p:nvSpPr>
        <p:spPr>
          <a:xfrm>
            <a:off x="8732520" y="3749040"/>
            <a:ext cx="109584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−3.4%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7"/>
          <p:cNvSpPr/>
          <p:nvPr/>
        </p:nvSpPr>
        <p:spPr>
          <a:xfrm>
            <a:off x="9875520" y="3749040"/>
            <a:ext cx="15987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VIGILAR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8"/>
          <p:cNvSpPr/>
          <p:nvPr/>
        </p:nvSpPr>
        <p:spPr>
          <a:xfrm>
            <a:off x="6080760" y="4617720"/>
            <a:ext cx="5530680" cy="164448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9"/>
          <p:cNvSpPr/>
          <p:nvPr/>
        </p:nvSpPr>
        <p:spPr>
          <a:xfrm>
            <a:off x="6391800" y="4800600"/>
            <a:ext cx="49363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El disparo no es automático, y es a propósito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0"/>
          <p:cNvSpPr/>
          <p:nvPr/>
        </p:nvSpPr>
        <p:spPr>
          <a:xfrm>
            <a:off x="6391800" y="5257800"/>
            <a:ext cx="49363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Cuando dice REENTRENAR queda registrado, pero el entrenamiento lo lanzamos nosotras.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Pruebas y simulación de problemas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Fabricamos los defectos a propósito para comprobar que el sistema los agarra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567000" y="1691640"/>
            <a:ext cx="1781640" cy="173592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567000" y="1828800"/>
            <a:ext cx="178164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19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567000" y="2487240"/>
            <a:ext cx="1781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de variables y anti-leakage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2487240" y="1691640"/>
            <a:ext cx="1781640" cy="173592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2487240" y="1828800"/>
            <a:ext cx="178164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2a78d6"/>
                </a:solidFill>
                <a:effectLst/>
                <a:uFillTx/>
                <a:latin typeface="Cambria"/>
                <a:ea typeface="Cambria"/>
              </a:rPr>
              <a:t>17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2487240" y="2487240"/>
            <a:ext cx="1781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de la API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4407480" y="1691640"/>
            <a:ext cx="1781640" cy="173592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1"/>
          <p:cNvSpPr/>
          <p:nvPr/>
        </p:nvSpPr>
        <p:spPr>
          <a:xfrm>
            <a:off x="4407480" y="1828800"/>
            <a:ext cx="178164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1baf7a"/>
                </a:solidFill>
                <a:effectLst/>
                <a:uFillTx/>
                <a:latin typeface="Cambria"/>
                <a:ea typeface="Cambria"/>
              </a:rPr>
              <a:t>20</a:t>
            </a:r>
            <a:endParaRPr b="0" lang="es-CR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4407480" y="2487240"/>
            <a:ext cx="1781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del monitoreo</a:t>
            </a:r>
            <a:endParaRPr b="0" lang="es-C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567000" y="3611880"/>
            <a:ext cx="5484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56 pruebas, todas pasando</a:t>
            </a:r>
            <a:endParaRPr b="0" lang="es-C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567000" y="4114800"/>
            <a:ext cx="54849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La más importante reproduce el caso del lote 3 y falla si el sistema decidiera reentrenar.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5"/>
          <p:cNvSpPr/>
          <p:nvPr/>
        </p:nvSpPr>
        <p:spPr>
          <a:xfrm>
            <a:off x="567000" y="5212080"/>
            <a:ext cx="5484960" cy="105012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6"/>
          <p:cNvSpPr/>
          <p:nvPr/>
        </p:nvSpPr>
        <p:spPr>
          <a:xfrm>
            <a:off x="859680" y="5212080"/>
            <a:ext cx="493632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Las de leakage comprueban que ningún rezago menor que el horizonte se pueda generar.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6417360" y="1783080"/>
            <a:ext cx="5302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CR" sz="1600" strike="noStrike" u="none">
                <a:solidFill>
                  <a:srgbClr val="2a78d6"/>
                </a:solidFill>
                <a:effectLst/>
                <a:uFillTx/>
                <a:latin typeface="Calibri"/>
                <a:ea typeface="Calibri"/>
              </a:rPr>
              <a:t>Seis daños a una copia en memoria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6417360" y="2240280"/>
            <a:ext cx="53020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s-CR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faltantes · duplicados · valor absurdo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0" lang="es-CR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tipo incorrecto · categoría desconocida · cambio de esquema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6417360" y="3063240"/>
            <a:ext cx="5302080" cy="109584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6602040" y="3063240"/>
            <a:ext cx="47534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6 de 7 reglas fallaron  ·  proceso bloqueado  ·  archivo intacto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1"/>
          <p:cNvSpPr/>
          <p:nvPr/>
        </p:nvSpPr>
        <p:spPr>
          <a:xfrm>
            <a:off x="6453360" y="4343400"/>
            <a:ext cx="5302080" cy="1918800"/>
          </a:xfrm>
          <a:prstGeom prst="roundRect">
            <a:avLst>
              <a:gd name="adj" fmla="val 3810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6602040" y="4526280"/>
            <a:ext cx="382680" cy="38268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3"/>
          <p:cNvSpPr/>
          <p:nvPr/>
        </p:nvSpPr>
        <p:spPr>
          <a:xfrm>
            <a:off x="6602040" y="4526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4"/>
          <p:cNvSpPr/>
          <p:nvPr/>
        </p:nvSpPr>
        <p:spPr>
          <a:xfrm>
            <a:off x="7132320" y="4526280"/>
            <a:ext cx="42962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Encontró un error real en nuestro código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5"/>
          <p:cNvSpPr/>
          <p:nvPr/>
        </p:nvSpPr>
        <p:spPr>
          <a:xfrm>
            <a:off x="6602040" y="5029200"/>
            <a:ext cx="47534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R05 se caía cuando le llegaba texto donde esperaba un número.</a:t>
            </a:r>
            <a:endParaRPr b="0" lang="es-C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b="0" lang="es-C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Demostración en vivo</a:t>
            </a:r>
            <a:endParaRPr b="0" lang="es-C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El recorrido completo, de los datos crudos a la alerta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567000" y="173736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567000" y="1737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1097280" y="164592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Datos crudos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1097280" y="197496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-m src.ingestion.ingest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8"/>
          <p:cNvSpPr/>
          <p:nvPr/>
        </p:nvSpPr>
        <p:spPr>
          <a:xfrm>
            <a:off x="567000" y="260604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567000" y="26060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0"/>
          <p:cNvSpPr/>
          <p:nvPr/>
        </p:nvSpPr>
        <p:spPr>
          <a:xfrm>
            <a:off x="1097280" y="251460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Validación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1"/>
          <p:cNvSpPr/>
          <p:nvPr/>
        </p:nvSpPr>
        <p:spPr>
          <a:xfrm>
            <a:off x="1097280" y="284364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-m src.validation.diagnose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2"/>
          <p:cNvSpPr/>
          <p:nvPr/>
        </p:nvSpPr>
        <p:spPr>
          <a:xfrm>
            <a:off x="567000" y="347472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3"/>
          <p:cNvSpPr/>
          <p:nvPr/>
        </p:nvSpPr>
        <p:spPr>
          <a:xfrm>
            <a:off x="567000" y="34747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1097280" y="338328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Entrenamiento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1097280" y="371232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-m src.training.train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6"/>
          <p:cNvSpPr/>
          <p:nvPr/>
        </p:nvSpPr>
        <p:spPr>
          <a:xfrm>
            <a:off x="567000" y="434340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7"/>
          <p:cNvSpPr/>
          <p:nvPr/>
        </p:nvSpPr>
        <p:spPr>
          <a:xfrm>
            <a:off x="567000" y="434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8"/>
          <p:cNvSpPr/>
          <p:nvPr/>
        </p:nvSpPr>
        <p:spPr>
          <a:xfrm>
            <a:off x="1097280" y="425196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MLflow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1097280" y="458100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mlflow ui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0"/>
          <p:cNvSpPr/>
          <p:nvPr/>
        </p:nvSpPr>
        <p:spPr>
          <a:xfrm>
            <a:off x="567000" y="521208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1"/>
          <p:cNvSpPr/>
          <p:nvPr/>
        </p:nvSpPr>
        <p:spPr>
          <a:xfrm>
            <a:off x="567000" y="52120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2"/>
          <p:cNvSpPr/>
          <p:nvPr/>
        </p:nvSpPr>
        <p:spPr>
          <a:xfrm>
            <a:off x="1097280" y="512064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Registro del modelo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3"/>
          <p:cNvSpPr/>
          <p:nvPr/>
        </p:nvSpPr>
        <p:spPr>
          <a:xfrm>
            <a:off x="1097280" y="544968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alias candidato y produccion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4"/>
          <p:cNvSpPr/>
          <p:nvPr/>
        </p:nvSpPr>
        <p:spPr>
          <a:xfrm>
            <a:off x="6373440" y="173736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5"/>
          <p:cNvSpPr/>
          <p:nvPr/>
        </p:nvSpPr>
        <p:spPr>
          <a:xfrm>
            <a:off x="6373440" y="1737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6"/>
          <p:cNvSpPr/>
          <p:nvPr/>
        </p:nvSpPr>
        <p:spPr>
          <a:xfrm>
            <a:off x="6903720" y="164592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7"/>
          <p:cNvSpPr/>
          <p:nvPr/>
        </p:nvSpPr>
        <p:spPr>
          <a:xfrm>
            <a:off x="6903720" y="197496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docker run -p 8000:8000 grupo8-mlops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28"/>
          <p:cNvSpPr/>
          <p:nvPr/>
        </p:nvSpPr>
        <p:spPr>
          <a:xfrm>
            <a:off x="6373440" y="260604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9"/>
          <p:cNvSpPr/>
          <p:nvPr/>
        </p:nvSpPr>
        <p:spPr>
          <a:xfrm>
            <a:off x="6373440" y="26060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0"/>
          <p:cNvSpPr/>
          <p:nvPr/>
        </p:nvSpPr>
        <p:spPr>
          <a:xfrm>
            <a:off x="6903720" y="251460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Predicción por la API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1"/>
          <p:cNvSpPr/>
          <p:nvPr/>
        </p:nvSpPr>
        <p:spPr>
          <a:xfrm>
            <a:off x="6903720" y="284364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scripts/probar_api.py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2"/>
          <p:cNvSpPr/>
          <p:nvPr/>
        </p:nvSpPr>
        <p:spPr>
          <a:xfrm>
            <a:off x="6373440" y="3474720"/>
            <a:ext cx="382680" cy="382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3"/>
          <p:cNvSpPr/>
          <p:nvPr/>
        </p:nvSpPr>
        <p:spPr>
          <a:xfrm>
            <a:off x="6373440" y="34747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34"/>
          <p:cNvSpPr/>
          <p:nvPr/>
        </p:nvSpPr>
        <p:spPr>
          <a:xfrm>
            <a:off x="6903720" y="338328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Monitoreo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5"/>
          <p:cNvSpPr/>
          <p:nvPr/>
        </p:nvSpPr>
        <p:spPr>
          <a:xfrm>
            <a:off x="6903720" y="371232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-m src.monitoring.run_monitoring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6"/>
          <p:cNvSpPr/>
          <p:nvPr/>
        </p:nvSpPr>
        <p:spPr>
          <a:xfrm>
            <a:off x="6373440" y="4343400"/>
            <a:ext cx="382680" cy="38268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7"/>
          <p:cNvSpPr/>
          <p:nvPr/>
        </p:nvSpPr>
        <p:spPr>
          <a:xfrm>
            <a:off x="6373440" y="434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9</a:t>
            </a:r>
            <a:endParaRPr b="0" lang="es-C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8"/>
          <p:cNvSpPr/>
          <p:nvPr/>
        </p:nvSpPr>
        <p:spPr>
          <a:xfrm>
            <a:off x="6903720" y="4251960"/>
            <a:ext cx="4936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Alerta de calidad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9"/>
          <p:cNvSpPr/>
          <p:nvPr/>
        </p:nvSpPr>
        <p:spPr>
          <a:xfrm>
            <a:off x="6903720" y="458100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ee8c8"/>
                </a:solidFill>
                <a:effectLst/>
                <a:uFillTx/>
                <a:latin typeface="Consolas"/>
                <a:ea typeface="Consolas"/>
              </a:rPr>
              <a:t>python -m src.monitoring.contaminar</a:t>
            </a:r>
            <a:endParaRPr b="0" lang="es-C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0"/>
          <p:cNvSpPr/>
          <p:nvPr/>
        </p:nvSpPr>
        <p:spPr>
          <a:xfrm>
            <a:off x="6373440" y="5029200"/>
            <a:ext cx="5256360" cy="1233000"/>
          </a:xfrm>
          <a:prstGeom prst="roundRect">
            <a:avLst>
              <a:gd name="adj" fmla="val 5926"/>
            </a:avLst>
          </a:prstGeom>
          <a:solidFill>
            <a:srgbClr val="16273d"/>
          </a:solidFill>
          <a:ln w="12700">
            <a:solidFill>
              <a:srgbClr val="1627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1"/>
          <p:cNvSpPr/>
          <p:nvPr/>
        </p:nvSpPr>
        <p:spPr>
          <a:xfrm>
            <a:off x="6684120" y="5175360"/>
            <a:ext cx="46620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Si nos pasan un lote nuevo</a:t>
            </a:r>
            <a:endParaRPr b="0" lang="es-C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2"/>
          <p:cNvSpPr/>
          <p:nvPr/>
        </p:nvSpPr>
        <p:spPr>
          <a:xfrm>
            <a:off x="6684120" y="5596200"/>
            <a:ext cx="46162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afc0d4"/>
                </a:solidFill>
                <a:effectLst/>
                <a:uFillTx/>
                <a:latin typeface="Calibri"/>
                <a:ea typeface="Calibri"/>
              </a:rPr>
              <a:t>Pasa por las mismas reglas. Si está roto, el sistema lo rechaza y dice qué falló.</a:t>
            </a:r>
            <a:endParaRPr b="0" lang="es-C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567000" y="384120"/>
            <a:ext cx="401040" cy="40104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67000" y="384120"/>
            <a:ext cx="4010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b="0" lang="es-C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1134000" y="311040"/>
            <a:ext cx="104594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2181f"/>
                </a:solidFill>
                <a:effectLst/>
                <a:uFillTx/>
                <a:latin typeface="Cambria"/>
                <a:ea typeface="Cambria"/>
              </a:rPr>
              <a:t>Qué no hicimos, y qué haríamos con más tiempo</a:t>
            </a:r>
            <a:endParaRPr b="0" lang="es-C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1134000" y="914400"/>
            <a:ext cx="1045944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c6570"/>
                </a:solidFill>
                <a:effectLst/>
                <a:uFillTx/>
                <a:latin typeface="Calibri"/>
                <a:ea typeface="Calibri"/>
              </a:rPr>
              <a:t>Ser honestas sobre los límites es parte del trabajo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567000" y="1737360"/>
            <a:ext cx="53935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eb6834"/>
                </a:solidFill>
                <a:effectLst/>
                <a:uFillTx/>
                <a:latin typeface="Calibri"/>
                <a:ea typeface="Calibri"/>
              </a:rPr>
              <a:t>Los límites de este trabajo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309360" y="1737360"/>
            <a:ext cx="53020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af7a"/>
                </a:solidFill>
                <a:effectLst/>
                <a:uFillTx/>
                <a:latin typeface="Calibri"/>
                <a:ea typeface="Calibri"/>
              </a:rPr>
              <a:t>Lo que seguiría, en orden de valor</a:t>
            </a:r>
            <a:endParaRPr b="0" lang="es-C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"/>
          <p:cNvSpPr/>
          <p:nvPr/>
        </p:nvSpPr>
        <p:spPr>
          <a:xfrm>
            <a:off x="567000" y="2240280"/>
            <a:ext cx="539352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7"/>
          <p:cNvSpPr/>
          <p:nvPr/>
        </p:nvSpPr>
        <p:spPr>
          <a:xfrm>
            <a:off x="567000" y="2423160"/>
            <a:ext cx="53280" cy="821520"/>
          </a:xfrm>
          <a:prstGeom prst="rect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932760" y="2240280"/>
            <a:ext cx="47077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Una sola ciudad y un solo invierno.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9"/>
          <p:cNvSpPr/>
          <p:nvPr/>
        </p:nvSpPr>
        <p:spPr>
          <a:xfrm>
            <a:off x="567000" y="3611880"/>
            <a:ext cx="539352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0"/>
          <p:cNvSpPr/>
          <p:nvPr/>
        </p:nvSpPr>
        <p:spPr>
          <a:xfrm>
            <a:off x="567000" y="3794760"/>
            <a:ext cx="53280" cy="821520"/>
          </a:xfrm>
          <a:prstGeom prst="rect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1"/>
          <p:cNvSpPr/>
          <p:nvPr/>
        </p:nvSpPr>
        <p:spPr>
          <a:xfrm>
            <a:off x="932760" y="3611880"/>
            <a:ext cx="47077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umbral del 25% lo escogimos nosotras.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2"/>
          <p:cNvSpPr/>
          <p:nvPr/>
        </p:nvSpPr>
        <p:spPr>
          <a:xfrm>
            <a:off x="567000" y="4983480"/>
            <a:ext cx="539352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3"/>
          <p:cNvSpPr/>
          <p:nvPr/>
        </p:nvSpPr>
        <p:spPr>
          <a:xfrm>
            <a:off x="567000" y="5166360"/>
            <a:ext cx="53280" cy="821520"/>
          </a:xfrm>
          <a:prstGeom prst="rect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4"/>
          <p:cNvSpPr/>
          <p:nvPr/>
        </p:nvSpPr>
        <p:spPr>
          <a:xfrm>
            <a:off x="932760" y="4983480"/>
            <a:ext cx="47077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El modelo no explica pronósticos concretos.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5"/>
          <p:cNvSpPr/>
          <p:nvPr/>
        </p:nvSpPr>
        <p:spPr>
          <a:xfrm>
            <a:off x="6309360" y="2240280"/>
            <a:ext cx="530208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6"/>
          <p:cNvSpPr/>
          <p:nvPr/>
        </p:nvSpPr>
        <p:spPr>
          <a:xfrm>
            <a:off x="6309360" y="2423160"/>
            <a:ext cx="53280" cy="821520"/>
          </a:xfrm>
          <a:prstGeom prst="rect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7"/>
          <p:cNvSpPr/>
          <p:nvPr/>
        </p:nvSpPr>
        <p:spPr>
          <a:xfrm>
            <a:off x="6675120" y="2240280"/>
            <a:ext cx="46162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Conseguir más años de datos.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8"/>
          <p:cNvSpPr/>
          <p:nvPr/>
        </p:nvSpPr>
        <p:spPr>
          <a:xfrm>
            <a:off x="6309360" y="3611880"/>
            <a:ext cx="530208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9"/>
          <p:cNvSpPr/>
          <p:nvPr/>
        </p:nvSpPr>
        <p:spPr>
          <a:xfrm>
            <a:off x="6309360" y="3794760"/>
            <a:ext cx="53280" cy="821520"/>
          </a:xfrm>
          <a:prstGeom prst="rect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0"/>
          <p:cNvSpPr/>
          <p:nvPr/>
        </p:nvSpPr>
        <p:spPr>
          <a:xfrm>
            <a:off x="6675120" y="3611880"/>
            <a:ext cx="46162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Reentrenar solo, comparando antes contra el modelo vigente.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1"/>
          <p:cNvSpPr/>
          <p:nvPr/>
        </p:nvSpPr>
        <p:spPr>
          <a:xfrm>
            <a:off x="6309360" y="4983480"/>
            <a:ext cx="5302080" cy="118728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e3e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2"/>
          <p:cNvSpPr/>
          <p:nvPr/>
        </p:nvSpPr>
        <p:spPr>
          <a:xfrm>
            <a:off x="6309360" y="5166360"/>
            <a:ext cx="53280" cy="821520"/>
          </a:xfrm>
          <a:prstGeom prst="rect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C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3"/>
          <p:cNvSpPr/>
          <p:nvPr/>
        </p:nvSpPr>
        <p:spPr>
          <a:xfrm>
            <a:off x="6675120" y="4983480"/>
            <a:ext cx="46162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2181f"/>
                </a:solidFill>
                <a:effectLst/>
                <a:uFillTx/>
                <a:latin typeface="Calibri"/>
                <a:ea typeface="Calibri"/>
              </a:rPr>
              <a:t>Que las alertas le lleguen a alguien.</a:t>
            </a:r>
            <a:endParaRPr b="0" lang="es-C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2026-09-01T01:25:00Z</dcterms:created>
  <dc:creator>Grupo 8</dc:creator>
  <dc:description/>
  <dc:language>es-CR</dc:language>
  <cp:lastModifiedBy/>
  <dcterms:modified xsi:type="dcterms:W3CDTF">2026-09-03T18:14:48Z</dcterms:modified>
  <cp:revision>6</cp:revision>
  <dc:subject>PptxGenJS Presentation</dc:subject>
  <dc:title>Pronostico de benceno a 24 horas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