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181F"/>
                </a:solidFill>
                <a:latin typeface="Calibri"/>
              </a:defRPr>
            </a:pPr>
            <a:r>
              <a:rPr sz="1200" b="0" i="0" u="none" strike="noStrike">
                <a:solidFill>
                  <a:srgbClr val="12181F"/>
                </a:solidFill>
                <a:latin typeface="Calibri"/>
              </a:rPr>
              <a:t>MAE en validación (µg/m³) — más bajo es mejor</a:t>
            </a:r>
          </a:p>
        </c:rich>
      </c:tx>
      <c:layout/>
      <c:overlay val="0"/>
    </c:title>
    <c:autoTitleDeleted val="0"/>
    <c:plotArea>
      <c:layout/>
      <c:barChart>
        <c:barDir val="col"/>
        <c:grouping val="clustered"/>
        <c:varyColors val="0"/>
        <c:ser>
          <c:idx val="0"/>
          <c:order val="0"/>
          <c:tx>
            <c:strRef>
              <c:f>Sheet1!$B$1</c:f>
              <c:strCache>
                <c:ptCount val="1"/>
                <c:pt idx="0">
                  <c:v>MAE en validación</c:v>
                </c:pt>
              </c:strCache>
            </c:strRef>
          </c:tx>
          <c:spPr>
            <a:solidFill>
              <a:srgbClr val="5C6570"/>
            </a:solidFill>
            <a:effectLst/>
          </c:spPr>
          <c:invertIfNegative val="0"/>
          <c:dLbls>
            <c:numFmt formatCode="0.000" sourceLinked="0"/>
            <c:txPr>
              <a:bodyPr/>
              <a:lstStyle/>
              <a:p>
                <a:pPr>
                  <a:defRPr b="0" i="0" strike="noStrike" sz="1100" u="none">
                    <a:solidFill>
                      <a:srgbClr val="12181F"/>
                    </a:solidFill>
                    <a:latin typeface="Calibri"/>
                  </a:defRPr>
                </a:pPr>
              </a:p>
            </c:txPr>
            <c:showLegendKey val="0"/>
            <c:showVal val="1"/>
            <c:showCatName val="0"/>
            <c:showSerName val="0"/>
            <c:showPercent val="0"/>
            <c:showBubbleSize val="0"/>
            <c:showLeaderLines val="0"/>
          </c:dLbls>
          <c:dPt>
            <c:idx val="0"/>
            <c:invertIfNegative val="0"/>
            <c:bubble3D val="0"/>
            <c:spPr>
              <a:solidFill>
                <a:srgbClr val="5C6570"/>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1BAF7A"/>
              </a:solidFill>
              <a:effectLst/>
            </c:spPr>
          </c:dPt>
          <c:cat>
            <c:multiLvlStrRef>
              <c:f>Sheet1!$A$2:$A$5</c:f>
              <c:multiLvlStrCache>
                <c:ptCount val="4"/>
                <c:lvl>
                  <c:pt idx="0">
                    <c:v>baseline</c:v>
                  </c:pt>
                  <c:pt idx="1">
                    <c:v>ridge</c:v>
                  </c:pt>
                  <c:pt idx="2">
                    <c:v>random_forest</c:v>
                  </c:pt>
                  <c:pt idx="3">
                    <c:v>gradient_boosting</c:v>
                  </c:pt>
                </c:lvl>
              </c:multiLvlStrCache>
            </c:multiLvlStrRef>
          </c:cat>
          <c:val>
            <c:numRef>
              <c:f>Sheet1!$B$2:$B$5</c:f>
              <c:numCache>
                <c:formatCode>General</c:formatCode>
                <c:ptCount val="4"/>
                <c:pt idx="0">
                  <c:v>4.021</c:v>
                </c:pt>
                <c:pt idx="1">
                  <c:v>3.096</c:v>
                </c:pt>
                <c:pt idx="2">
                  <c:v>3.043</c:v>
                </c:pt>
                <c:pt idx="3">
                  <c:v>2.905</c:v>
                </c:pt>
              </c:numCache>
            </c:numRef>
          </c:val>
        </c:ser>
        <c:dLbls>
          <c:numFmt formatCode="0.000" sourceLinked="0"/>
          <c:txPr>
            <a:bodyPr/>
            <a:lstStyle/>
            <a:p>
              <a:pPr>
                <a:defRPr b="0" i="0" strike="noStrike" sz="1100" u="none">
                  <a:solidFill>
                    <a:srgbClr val="12181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570"/>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570"/>
                </a:solidFill>
                <a:latin typeface="Calibr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Cuánto cambiaron los datos (PSI)</a:t>
            </a:r>
          </a:p>
        </c:rich>
      </c:tx>
      <c:layout/>
      <c:overlay val="0"/>
    </c:title>
    <c:autoTitleDeleted val="0"/>
    <c:plotArea>
      <c:layout/>
      <c:barChart>
        <c:barDir val="col"/>
        <c:grouping val="clustered"/>
        <c:varyColors val="0"/>
        <c:ser>
          <c:idx val="0"/>
          <c:order val="0"/>
          <c:tx>
            <c:strRef>
              <c:f>Sheet1!$B$1</c:f>
              <c:strCache>
                <c:ptCount val="1"/>
                <c:pt idx="0">
                  <c:v>PSI maximo</c:v>
                </c:pt>
              </c:strCache>
            </c:strRef>
          </c:tx>
          <c:spPr>
            <a:solidFill>
              <a:srgbClr val="2A78D6"/>
            </a:solidFill>
            <a:effectLst/>
          </c:spPr>
          <c:invertIfNegative val="0"/>
          <c:dLbls>
            <c:numFmt formatCode="0.000"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2A78D6"/>
              </a:solidFill>
              <a:effectLst/>
            </c:spPr>
          </c:dPt>
          <c:cat>
            <c:multiLvlStrRef>
              <c:f>Sheet1!$A$2:$A$4</c:f>
              <c:multiLvlStrCache>
                <c:ptCount val="3"/>
                <c:lvl>
                  <c:pt idx="0">
                    <c:v>batch1</c:v>
                  </c:pt>
                  <c:pt idx="1">
                    <c:v>batch2</c:v>
                  </c:pt>
                  <c:pt idx="2">
                    <c:v>batch3</c:v>
                  </c:pt>
                </c:lvl>
              </c:multiLvlStrCache>
            </c:multiLvlStrRef>
          </c:cat>
          <c:val>
            <c:numRef>
              <c:f>Sheet1!$B$2:$B$4</c:f>
              <c:numCache>
                <c:formatCode>General</c:formatCode>
                <c:ptCount val="3"/>
                <c:pt idx="0">
                  <c:v>1.671</c:v>
                </c:pt>
                <c:pt idx="1">
                  <c:v>6.175</c:v>
                </c:pt>
                <c:pt idx="2">
                  <c:v>3.265</c:v>
                </c:pt>
              </c:numCache>
            </c:numRef>
          </c:val>
        </c:ser>
        <c:dLbls>
          <c:numFmt formatCode="0.000"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FC0D4"/>
                </a:solidFill>
                <a:latin typeface="Calibri"/>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12700" cap="flat">
              <a:solidFill>
                <a:srgbClr val="24374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FC0D4"/>
                </a:solidFill>
                <a:latin typeface="Calibri"/>
              </a:defRPr>
            </a:pPr>
            <a:endParaRPr lang="en-US"/>
          </a:p>
        </c:txPr>
        <c:crossAx val="2094734554"/>
        <c:crosses val="autoZero"/>
        <c:crossBetween val="between"/>
        <c:majorUnit val="2"/>
      </c:valAx>
      <c:spPr>
        <a:solidFill>
          <a:srgbClr val="0E1A2B"/>
        </a:solidFill>
        <a:ln>
          <a:noFill/>
        </a:ln>
        <a:effectLst/>
      </c:spPr>
    </c:plotArea>
    <c:plotVisOnly val="1"/>
    <c:dispBlanksAs val="span"/>
  </c:chart>
  <c:spPr>
    <a:solidFill>
      <a:srgbClr val="0E1A2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Cuánto empeoró el modelo (% de MAE)</a:t>
            </a:r>
          </a:p>
        </c:rich>
      </c:tx>
      <c:layout/>
      <c:overlay val="0"/>
    </c:title>
    <c:autoTitleDeleted val="0"/>
    <c:plotArea>
      <c:layout/>
      <c:barChart>
        <c:barDir val="col"/>
        <c:grouping val="clustered"/>
        <c:varyColors val="0"/>
        <c:ser>
          <c:idx val="0"/>
          <c:order val="0"/>
          <c:tx>
            <c:strRef>
              <c:f>Sheet1!$B$1</c:f>
              <c:strCache>
                <c:ptCount val="1"/>
                <c:pt idx="0">
                  <c:v>Degradacion del MAE</c:v>
                </c:pt>
              </c:strCache>
            </c:strRef>
          </c:tx>
          <c:spPr>
            <a:solidFill>
              <a:srgbClr val="EB6834"/>
            </a:solidFill>
            <a:effectLst/>
          </c:spPr>
          <c:invertIfNegative val="0"/>
          <c:dLbls>
            <c:numFmt formatCode="+0.0;-0.0"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1BAF7A"/>
              </a:solidFill>
              <a:effectLst/>
            </c:spPr>
          </c:dPt>
          <c:cat>
            <c:multiLvlStrRef>
              <c:f>Sheet1!$A$2:$A$4</c:f>
              <c:multiLvlStrCache>
                <c:ptCount val="3"/>
                <c:lvl>
                  <c:pt idx="0">
                    <c:v>batch1</c:v>
                  </c:pt>
                  <c:pt idx="1">
                    <c:v>batch2</c:v>
                  </c:pt>
                  <c:pt idx="2">
                    <c:v>batch3</c:v>
                  </c:pt>
                </c:lvl>
              </c:multiLvlStrCache>
            </c:multiLvlStrRef>
          </c:cat>
          <c:val>
            <c:numRef>
              <c:f>Sheet1!$B$2:$B$4</c:f>
              <c:numCache>
                <c:formatCode>General</c:formatCode>
                <c:ptCount val="3"/>
                <c:pt idx="0">
                  <c:v>88.8</c:v>
                </c:pt>
                <c:pt idx="1">
                  <c:v>51.1</c:v>
                </c:pt>
                <c:pt idx="2">
                  <c:v>-3.4</c:v>
                </c:pt>
              </c:numCache>
            </c:numRef>
          </c:val>
        </c:ser>
        <c:dLbls>
          <c:numFmt formatCode="+0.0;-0.0"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FC0D4"/>
                </a:solidFill>
                <a:latin typeface="Calibri"/>
              </a:defRPr>
            </a:pPr>
            <a:endParaRPr lang="en-US"/>
          </a:p>
        </c:txPr>
        <c:crossAx val="2094734552"/>
        <c:crosses val="autoZero"/>
        <c:auto val="1"/>
        <c:lblAlgn val="ctr"/>
        <c:noMultiLvlLbl val="1"/>
      </c:catAx>
      <c:valAx>
        <c:axId val="2094734552"/>
        <c:scaling>
          <c:orientation val="minMax"/>
          <c:max val="100"/>
          <c:min val="-20"/>
        </c:scaling>
        <c:delete val="0"/>
        <c:axPos val="l"/>
        <c:majorGridlines>
          <c:spPr>
            <a:ln w="12700" cap="flat">
              <a:solidFill>
                <a:srgbClr val="24374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FC0D4"/>
                </a:solidFill>
                <a:latin typeface="Calibri"/>
              </a:defRPr>
            </a:pPr>
            <a:endParaRPr lang="en-US"/>
          </a:p>
        </c:txPr>
        <c:crossAx val="2094734554"/>
        <c:crosses val="autoZero"/>
        <c:crossBetween val="between"/>
        <c:majorUnit val="40"/>
      </c:valAx>
      <c:spPr>
        <a:solidFill>
          <a:srgbClr val="0E1A2B"/>
        </a:solidFill>
        <a:ln>
          <a:noFill/>
        </a:ln>
        <a:effectLst/>
      </c:spPr>
    </c:plotArea>
    <c:plotVisOnly val="1"/>
    <c:dispBlanksAs val="span"/>
  </c:chart>
  <c:spPr>
    <a:solidFill>
      <a:srgbClr val="0E1A2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Mayarling abre. Nos presentamos y decimos que el proyecto es un pipeline completo, no solo un modelo. Las tres cifras de la derecha son el resumen: el error, cuanto le ganamos al modelo tonto y las pruebas que lo respaldan.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Mayarling. Lo importante de esta lamina es que las metas las fijamos ANTES de entrenar, y que descartamos el MAPE con evidencia nuestra, no por gusto.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Nicole. El punto fuerte es el tercero: pasar de "hay 366 nulos" a "son 16 apagones" es lo que separa mirar una tabla de entender los datos. Si alguien pregunta, la pagina de UCI dice que el periodo termina en febrero pero el archivo llega hasta abril: nos guiamos por el archivo.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Mayarling. Recorrer el camino de izquierda a derecha y de arriba abajo. Senalar las dos flechas naranjas punteadas: la que corta el pipeline si falla una regla dura, y la que vuelve al entrenamiento si la decision dice REENTRENAR. Y decir que la simulacion de danos usa LAS MISMAS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Nicole. Insistir en la separacion dura/blanda: es una decision de diseno, no un descuido. Y en que las reglas corren dos veces, porque la segunda pasada es la que comprueba que la limpieza no rompio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Mayarling. Esta es la lamina que hay que defender mejor. Contar tambien el caso de PT08.S2, que correlaciona 0.982 con el benceno: usarlo sin rezagar daria metricas espectaculares y un modelo inutil. Por eso una metrica muy buena puede ser una senal de alarma.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Mayarling. El punto de venta es el rechazo de random_forest: demuestra que los criterios no son decoracion. Si preguntan por ridge, decir que se degrada solo 8.2% contra el 50.7% del ganador, y que con mas historico seria un candidato serio.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Mayarling. Mostrar aqui la captura del Model Registry si hay tiempo. El argumento del md5 es el que convierte "el modelo del martes" en una referencia y no en una descripcion.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Nicole. Si preguntan por que hizo falta exportar el modelo aparte: MLflow guarda rutas absolutas de Windows dentro de mlruns, y dentro del contenedor esas rutas no existen. Al exportarlo, ademas, pudimos sacar MLflow de la imagen entera.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Nicole. Cuidado con el p-valor de Kolmogorov-Smirnov: con miles de filas casi cualquier diferencia sale significativa, por eso nunca decidimos con el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Nicole. Esta es LA lamina del proyecto y responde la pregunta de la seccion Q del enunciado. Que quede claro que no es teoria: son nuestros tres lotes. batch1 +88.8%, batch2 +51.1%, batch3 -3.4%.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Nicole. Si preguntan por que no automatizamos: no es que no supieramos hacerlo, es una decision justificada por el tamano del historico. Con mas datos y una comparacion previa contra el modelo vigente, si lo automatizariamos.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Nicole. Contar el error de R05 sin adornos: lo encontramos nosotras, lo corregimos y quedo la prueba. Eso vale mas que decir que todo salio bien a la primera.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Mayarling. Esta lamina suele gustar en una defensa: demuestra que sabemos donde estan los limites y que no estamos vendiendo el trabajo por mas de lo que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Tener el contenedor ya levantado ANTES de empezar la defensa, para no perder tiempo esperando. Si el profesor pasa un lote nuevo, el guion esta en presentacion/guion_demo.md.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1371600"/>
            <a:ext cx="457200" cy="457200"/>
          </a:xfrm>
          <a:prstGeom prst="ellipse">
            <a:avLst/>
          </a:prstGeom>
          <a:solidFill>
            <a:srgbClr val="1BAF7A"/>
          </a:solidFill>
          <a:ln/>
        </p:spPr>
      </p:sp>
      <p:sp>
        <p:nvSpPr>
          <p:cNvPr id="3" name="Text 1"/>
          <p:cNvSpPr/>
          <p:nvPr/>
        </p:nvSpPr>
        <p:spPr>
          <a:xfrm>
            <a:off x="566928" y="1965960"/>
            <a:ext cx="7680960" cy="182880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Pronóstico de benceno</a:t>
            </a:r>
            <a:endParaRPr lang="en-US" sz="4600" dirty="0"/>
          </a:p>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a 24 horas</a:t>
            </a:r>
            <a:endParaRPr lang="en-US" sz="4600" dirty="0"/>
          </a:p>
        </p:txBody>
      </p:sp>
      <p:sp>
        <p:nvSpPr>
          <p:cNvPr id="4" name="Text 2"/>
          <p:cNvSpPr/>
          <p:nvPr/>
        </p:nvSpPr>
        <p:spPr>
          <a:xfrm>
            <a:off x="566928" y="3886200"/>
            <a:ext cx="7680960" cy="411480"/>
          </a:xfrm>
          <a:prstGeom prst="rect">
            <a:avLst/>
          </a:prstGeom>
          <a:noFill/>
          <a:ln/>
        </p:spPr>
        <p:txBody>
          <a:bodyPr wrap="square" lIns="0" tIns="0" rIns="0" bIns="0" rtlCol="0" anchor="ctr"/>
          <a:lstStyle/>
          <a:p>
            <a:pPr indent="0" marL="0">
              <a:buNone/>
            </a:pPr>
            <a:r>
              <a:rPr lang="en-US" sz="1600" dirty="0">
                <a:solidFill>
                  <a:srgbClr val="AFC0D4"/>
                </a:solidFill>
                <a:latin typeface="Calibri" pitchFamily="34" charset="0"/>
                <a:ea typeface="Calibri" pitchFamily="34" charset="-122"/>
                <a:cs typeface="Calibri" pitchFamily="34" charset="-120"/>
              </a:rPr>
              <a:t>Un sistema MLOps completo: de los datos crudos a un servicio vigilado</a:t>
            </a:r>
            <a:endParaRPr lang="en-US" sz="1600" dirty="0"/>
          </a:p>
        </p:txBody>
      </p:sp>
      <p:sp>
        <p:nvSpPr>
          <p:cNvPr id="5" name="Shape 3"/>
          <p:cNvSpPr/>
          <p:nvPr/>
        </p:nvSpPr>
        <p:spPr>
          <a:xfrm>
            <a:off x="566928" y="4617720"/>
            <a:ext cx="2011680" cy="27432"/>
          </a:xfrm>
          <a:prstGeom prst="rect">
            <a:avLst/>
          </a:prstGeom>
          <a:solidFill>
            <a:srgbClr val="EB6834"/>
          </a:solidFill>
          <a:ln/>
        </p:spPr>
      </p:sp>
      <p:sp>
        <p:nvSpPr>
          <p:cNvPr id="6" name="Text 4"/>
          <p:cNvSpPr/>
          <p:nvPr/>
        </p:nvSpPr>
        <p:spPr>
          <a:xfrm>
            <a:off x="566928" y="4892040"/>
            <a:ext cx="3657600" cy="320040"/>
          </a:xfrm>
          <a:prstGeom prst="rect">
            <a:avLst/>
          </a:prstGeom>
          <a:noFill/>
          <a:ln/>
        </p:spPr>
        <p:txBody>
          <a:bodyPr wrap="square" lIns="0" tIns="0" rIns="0" bIns="0" rtlCol="0" anchor="ctr"/>
          <a:lstStyle/>
          <a:p>
            <a:pPr indent="0" marL="0">
              <a:buNone/>
            </a:pPr>
            <a:r>
              <a:rPr lang="en-US" sz="1500" b="1" dirty="0">
                <a:solidFill>
                  <a:srgbClr val="EB6834"/>
                </a:solidFill>
                <a:latin typeface="Calibri" pitchFamily="34" charset="0"/>
                <a:ea typeface="Calibri" pitchFamily="34" charset="-122"/>
                <a:cs typeface="Calibri" pitchFamily="34" charset="-120"/>
              </a:rPr>
              <a:t>Grupo #8</a:t>
            </a:r>
            <a:endParaRPr lang="en-US" sz="1500" dirty="0"/>
          </a:p>
        </p:txBody>
      </p:sp>
      <p:sp>
        <p:nvSpPr>
          <p:cNvPr id="7" name="Text 5"/>
          <p:cNvSpPr/>
          <p:nvPr/>
        </p:nvSpPr>
        <p:spPr>
          <a:xfrm>
            <a:off x="566928" y="5230368"/>
            <a:ext cx="548640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Mayarling Martínez  ·  Nicole Chavarría</a:t>
            </a:r>
            <a:endParaRPr lang="en-US" sz="1400" dirty="0"/>
          </a:p>
        </p:txBody>
      </p:sp>
      <p:sp>
        <p:nvSpPr>
          <p:cNvPr id="8" name="Text 6"/>
          <p:cNvSpPr/>
          <p:nvPr/>
        </p:nvSpPr>
        <p:spPr>
          <a:xfrm>
            <a:off x="566928" y="5715000"/>
            <a:ext cx="7680960" cy="320040"/>
          </a:xfrm>
          <a:prstGeom prst="rect">
            <a:avLst/>
          </a:prstGeom>
          <a:noFill/>
          <a:ln/>
        </p:spPr>
        <p:txBody>
          <a:bodyPr wrap="square" lIns="0" tIns="0" rIns="0" bIns="0" rtlCol="0" anchor="ctr"/>
          <a:lstStyle/>
          <a:p>
            <a:pPr indent="0" marL="0">
              <a:buNone/>
            </a:pPr>
            <a:r>
              <a:rPr lang="en-US" sz="1200" dirty="0">
                <a:solidFill>
                  <a:srgbClr val="7E93AD"/>
                </a:solidFill>
                <a:latin typeface="Calibri" pitchFamily="34" charset="0"/>
                <a:ea typeface="Calibri" pitchFamily="34" charset="-122"/>
                <a:cs typeface="Calibri" pitchFamily="34" charset="-120"/>
              </a:rPr>
              <a:t>Dataset Air Quality de UCI   ·   github.com/Mayarling/AirQuality</a:t>
            </a:r>
            <a:endParaRPr lang="en-US" sz="1200" dirty="0"/>
          </a:p>
        </p:txBody>
      </p:sp>
      <p:sp>
        <p:nvSpPr>
          <p:cNvPr id="9" name="Shape 7"/>
          <p:cNvSpPr/>
          <p:nvPr/>
        </p:nvSpPr>
        <p:spPr>
          <a:xfrm>
            <a:off x="8549640" y="1737360"/>
            <a:ext cx="3063240" cy="3840480"/>
          </a:xfrm>
          <a:prstGeom prst="roundRect">
            <a:avLst>
              <a:gd name="adj" fmla="val 2388"/>
            </a:avLst>
          </a:prstGeom>
          <a:solidFill>
            <a:srgbClr val="16273D"/>
          </a:solidFill>
          <a:ln w="12700">
            <a:solidFill>
              <a:srgbClr val="16273D"/>
            </a:solidFill>
            <a:prstDash val="solid"/>
          </a:ln>
        </p:spPr>
      </p:sp>
      <p:sp>
        <p:nvSpPr>
          <p:cNvPr id="10" name="Text 8"/>
          <p:cNvSpPr/>
          <p:nvPr/>
        </p:nvSpPr>
        <p:spPr>
          <a:xfrm>
            <a:off x="8549640" y="1965960"/>
            <a:ext cx="3063240" cy="658368"/>
          </a:xfrm>
          <a:prstGeom prst="rect">
            <a:avLst/>
          </a:prstGeom>
          <a:noFill/>
          <a:ln/>
        </p:spPr>
        <p:txBody>
          <a:bodyPr wrap="square" lIns="0" tIns="0" rIns="0" bIns="0" rtlCol="0" anchor="ctr"/>
          <a:lstStyle/>
          <a:p>
            <a:pPr algn="ctr" indent="0" marL="0">
              <a:buNone/>
            </a:pPr>
            <a:r>
              <a:rPr lang="en-US" sz="3800" b="1" dirty="0">
                <a:solidFill>
                  <a:srgbClr val="1BAF7A"/>
                </a:solidFill>
                <a:latin typeface="Cambria" pitchFamily="34" charset="0"/>
                <a:ea typeface="Cambria" pitchFamily="34" charset="-122"/>
                <a:cs typeface="Cambria" pitchFamily="34" charset="-120"/>
              </a:rPr>
              <a:t>2.905</a:t>
            </a:r>
            <a:endParaRPr lang="en-US" sz="3800" dirty="0"/>
          </a:p>
        </p:txBody>
      </p:sp>
      <p:sp>
        <p:nvSpPr>
          <p:cNvPr id="11" name="Text 9"/>
          <p:cNvSpPr/>
          <p:nvPr/>
        </p:nvSpPr>
        <p:spPr>
          <a:xfrm>
            <a:off x="8549640" y="2624328"/>
            <a:ext cx="3063240" cy="457200"/>
          </a:xfrm>
          <a:prstGeom prst="rect">
            <a:avLst/>
          </a:prstGeom>
          <a:noFill/>
          <a:ln/>
        </p:spPr>
        <p:txBody>
          <a:bodyPr wrap="square" lIns="0" tIns="0" rIns="0" bIns="0" rtlCol="0" anchor="t"/>
          <a:lstStyle/>
          <a:p>
            <a:pPr algn="ctr" indent="0" marL="0">
              <a:buNone/>
            </a:pPr>
            <a:r>
              <a:rPr lang="en-US" sz="1100" dirty="0">
                <a:solidFill>
                  <a:srgbClr val="AFC0D4"/>
                </a:solidFill>
                <a:latin typeface="Calibri" pitchFamily="34" charset="0"/>
                <a:ea typeface="Calibri" pitchFamily="34" charset="-122"/>
                <a:cs typeface="Calibri" pitchFamily="34" charset="-120"/>
              </a:rPr>
              <a:t>MAE en µg/m³</a:t>
            </a:r>
            <a:endParaRPr lang="en-US" sz="1100" dirty="0"/>
          </a:p>
        </p:txBody>
      </p:sp>
      <p:sp>
        <p:nvSpPr>
          <p:cNvPr id="12" name="Text 10"/>
          <p:cNvSpPr/>
          <p:nvPr/>
        </p:nvSpPr>
        <p:spPr>
          <a:xfrm>
            <a:off x="8549640" y="3108960"/>
            <a:ext cx="3063240" cy="658368"/>
          </a:xfrm>
          <a:prstGeom prst="rect">
            <a:avLst/>
          </a:prstGeom>
          <a:noFill/>
          <a:ln/>
        </p:spPr>
        <p:txBody>
          <a:bodyPr wrap="square" lIns="0" tIns="0" rIns="0" bIns="0" rtlCol="0" anchor="ctr"/>
          <a:lstStyle/>
          <a:p>
            <a:pPr algn="ctr" indent="0" marL="0">
              <a:buNone/>
            </a:pPr>
            <a:r>
              <a:rPr lang="en-US" sz="3800" b="1" dirty="0">
                <a:solidFill>
                  <a:srgbClr val="2A78D6"/>
                </a:solidFill>
                <a:latin typeface="Cambria" pitchFamily="34" charset="0"/>
                <a:ea typeface="Cambria" pitchFamily="34" charset="-122"/>
                <a:cs typeface="Cambria" pitchFamily="34" charset="-120"/>
              </a:rPr>
              <a:t>27.8%</a:t>
            </a:r>
            <a:endParaRPr lang="en-US" sz="3800" dirty="0"/>
          </a:p>
        </p:txBody>
      </p:sp>
      <p:sp>
        <p:nvSpPr>
          <p:cNvPr id="13" name="Text 11"/>
          <p:cNvSpPr/>
          <p:nvPr/>
        </p:nvSpPr>
        <p:spPr>
          <a:xfrm>
            <a:off x="8549640" y="3767328"/>
            <a:ext cx="3063240" cy="457200"/>
          </a:xfrm>
          <a:prstGeom prst="rect">
            <a:avLst/>
          </a:prstGeom>
          <a:noFill/>
          <a:ln/>
        </p:spPr>
        <p:txBody>
          <a:bodyPr wrap="square" lIns="0" tIns="0" rIns="0" bIns="0" rtlCol="0" anchor="t"/>
          <a:lstStyle/>
          <a:p>
            <a:pPr algn="ctr" indent="0" marL="0">
              <a:buNone/>
            </a:pPr>
            <a:r>
              <a:rPr lang="en-US" sz="1100" dirty="0">
                <a:solidFill>
                  <a:srgbClr val="AFC0D4"/>
                </a:solidFill>
                <a:latin typeface="Calibri" pitchFamily="34" charset="0"/>
                <a:ea typeface="Calibri" pitchFamily="34" charset="-122"/>
                <a:cs typeface="Calibri" pitchFamily="34" charset="-120"/>
              </a:rPr>
              <a:t>menos error que el baseline</a:t>
            </a:r>
            <a:endParaRPr lang="en-US" sz="1100" dirty="0"/>
          </a:p>
        </p:txBody>
      </p:sp>
      <p:sp>
        <p:nvSpPr>
          <p:cNvPr id="14" name="Text 12"/>
          <p:cNvSpPr/>
          <p:nvPr/>
        </p:nvSpPr>
        <p:spPr>
          <a:xfrm>
            <a:off x="8549640" y="4251960"/>
            <a:ext cx="3063240" cy="658368"/>
          </a:xfrm>
          <a:prstGeom prst="rect">
            <a:avLst/>
          </a:prstGeom>
          <a:noFill/>
          <a:ln/>
        </p:spPr>
        <p:txBody>
          <a:bodyPr wrap="square" lIns="0" tIns="0" rIns="0" bIns="0" rtlCol="0" anchor="ctr"/>
          <a:lstStyle/>
          <a:p>
            <a:pPr algn="ctr" indent="0" marL="0">
              <a:buNone/>
            </a:pPr>
            <a:r>
              <a:rPr lang="en-US" sz="3800" b="1" dirty="0">
                <a:solidFill>
                  <a:srgbClr val="EB6834"/>
                </a:solidFill>
                <a:latin typeface="Cambria" pitchFamily="34" charset="0"/>
                <a:ea typeface="Cambria" pitchFamily="34" charset="-122"/>
                <a:cs typeface="Cambria" pitchFamily="34" charset="-120"/>
              </a:rPr>
              <a:t>56</a:t>
            </a:r>
            <a:endParaRPr lang="en-US" sz="3800" dirty="0"/>
          </a:p>
        </p:txBody>
      </p:sp>
      <p:sp>
        <p:nvSpPr>
          <p:cNvPr id="15" name="Text 13"/>
          <p:cNvSpPr/>
          <p:nvPr/>
        </p:nvSpPr>
        <p:spPr>
          <a:xfrm>
            <a:off x="8549640" y="4910328"/>
            <a:ext cx="3063240" cy="457200"/>
          </a:xfrm>
          <a:prstGeom prst="rect">
            <a:avLst/>
          </a:prstGeom>
          <a:noFill/>
          <a:ln/>
        </p:spPr>
        <p:txBody>
          <a:bodyPr wrap="square" lIns="0" tIns="0" rIns="0" bIns="0" rtlCol="0" anchor="t"/>
          <a:lstStyle/>
          <a:p>
            <a:pPr algn="ctr" indent="0" marL="0">
              <a:buNone/>
            </a:pPr>
            <a:r>
              <a:rPr lang="en-US" sz="1100" dirty="0">
                <a:solidFill>
                  <a:srgbClr val="AFC0D4"/>
                </a:solidFill>
                <a:latin typeface="Calibri" pitchFamily="34" charset="0"/>
                <a:ea typeface="Calibri" pitchFamily="34" charset="-122"/>
                <a:cs typeface="Calibri" pitchFamily="34" charset="-120"/>
              </a:rPr>
              <a:t>pruebas automáticas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El problema</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Pronosticar el benceno del aire con un día de anticipación</a:t>
            </a:r>
            <a:endParaRPr lang="en-US" sz="1400" dirty="0"/>
          </a:p>
        </p:txBody>
      </p:sp>
      <p:sp>
        <p:nvSpPr>
          <p:cNvPr id="6" name="Text 4"/>
          <p:cNvSpPr/>
          <p:nvPr/>
        </p:nvSpPr>
        <p:spPr>
          <a:xfrm>
            <a:off x="566928" y="1600200"/>
            <a:ext cx="5943600" cy="155448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2181F"/>
                </a:solidFill>
                <a:latin typeface="Calibri" pitchFamily="34" charset="0"/>
                <a:ea typeface="Calibri" pitchFamily="34" charset="-122"/>
                <a:cs typeface="Calibri" pitchFamily="34" charset="-120"/>
              </a:rPr>
              <a:t>El benceno sale del tráfico y es cancerígeno. No hay un nivel seguro.</a:t>
            </a:r>
            <a:endParaRPr lang="en-US" sz="1450" dirty="0"/>
          </a:p>
          <a:p>
            <a:pPr marL="342900" indent="-342900">
              <a:spcAft>
                <a:spcPts val="800"/>
              </a:spcAft>
              <a:buSzPct val="100000"/>
              <a:buChar char="•"/>
            </a:pPr>
            <a:r>
              <a:rPr lang="en-US" sz="1450" dirty="0">
                <a:solidFill>
                  <a:srgbClr val="12181F"/>
                </a:solidFill>
                <a:latin typeface="Calibri" pitchFamily="34" charset="0"/>
                <a:ea typeface="Calibri" pitchFamily="34" charset="-122"/>
                <a:cs typeface="Calibri" pitchFamily="34" charset="-120"/>
              </a:rPr>
              <a:t>Con 24 horas de aviso se puede restringir el tráfico, avisar a la población y proteger a la gente sensible.</a:t>
            </a:r>
            <a:endParaRPr lang="en-US" sz="1450" dirty="0"/>
          </a:p>
          <a:p>
            <a:pPr marL="342900" indent="-342900">
              <a:spcAft>
                <a:spcPts val="800"/>
              </a:spcAft>
              <a:buSzPct val="100000"/>
              <a:buChar char="•"/>
            </a:pPr>
            <a:r>
              <a:rPr lang="en-US" sz="1450" dirty="0">
                <a:solidFill>
                  <a:srgbClr val="12181F"/>
                </a:solidFill>
                <a:latin typeface="Calibri" pitchFamily="34" charset="0"/>
                <a:ea typeface="Calibri" pitchFamily="34" charset="-122"/>
                <a:cs typeface="Calibri" pitchFamily="34" charset="-120"/>
              </a:rPr>
              <a:t>Con una hora de aviso no se organiza nada.</a:t>
            </a:r>
            <a:endParaRPr lang="en-US" sz="1450" dirty="0"/>
          </a:p>
        </p:txBody>
      </p:sp>
      <p:sp>
        <p:nvSpPr>
          <p:cNvPr id="7" name="Shape 5"/>
          <p:cNvSpPr/>
          <p:nvPr/>
        </p:nvSpPr>
        <p:spPr>
          <a:xfrm>
            <a:off x="566928" y="3337560"/>
            <a:ext cx="5943600" cy="2148840"/>
          </a:xfrm>
          <a:prstGeom prst="roundRect">
            <a:avLst>
              <a:gd name="adj" fmla="val 3404"/>
            </a:avLst>
          </a:prstGeom>
          <a:solidFill>
            <a:srgbClr val="F4F6F9"/>
          </a:solidFill>
          <a:ln w="12700">
            <a:solidFill>
              <a:srgbClr val="E3E8EF"/>
            </a:solidFill>
            <a:prstDash val="solid"/>
          </a:ln>
        </p:spPr>
      </p:sp>
      <p:sp>
        <p:nvSpPr>
          <p:cNvPr id="8" name="Text 6"/>
          <p:cNvSpPr/>
          <p:nvPr/>
        </p:nvSpPr>
        <p:spPr>
          <a:xfrm>
            <a:off x="859536" y="3566160"/>
            <a:ext cx="5394960" cy="310896"/>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La restricción que gobierna todo el diseño</a:t>
            </a:r>
            <a:endParaRPr lang="en-US" sz="1400" dirty="0"/>
          </a:p>
        </p:txBody>
      </p:sp>
      <p:sp>
        <p:nvSpPr>
          <p:cNvPr id="9" name="Text 7"/>
          <p:cNvSpPr/>
          <p:nvPr/>
        </p:nvSpPr>
        <p:spPr>
          <a:xfrm>
            <a:off x="859536" y="3931920"/>
            <a:ext cx="5394960" cy="1828800"/>
          </a:xfrm>
          <a:prstGeom prst="rect">
            <a:avLst/>
          </a:prstGeom>
          <a:noFill/>
          <a:ln/>
        </p:spPr>
        <p:txBody>
          <a:bodyPr wrap="square" lIns="0" tIns="0" rIns="0" bIns="0" rtlCol="0" anchor="t"/>
          <a:lstStyle/>
          <a:p>
            <a:pPr indent="0" marL="0">
              <a:buNone/>
            </a:pPr>
            <a:r>
              <a:rPr lang="en-US" sz="1300" dirty="0">
                <a:solidFill>
                  <a:srgbClr val="12181F"/>
                </a:solidFill>
                <a:latin typeface="Calibri" pitchFamily="34" charset="0"/>
                <a:ea typeface="Calibri" pitchFamily="34" charset="-122"/>
                <a:cs typeface="Calibri" pitchFamily="34" charset="-120"/>
              </a:rPr>
              <a:t>A la hora de hoy no podemos usar ningún dato de las próximas 23 horas, porque en la vida real todavía no habrían ocurrido.</a:t>
            </a:r>
            <a:endParaRPr lang="en-US" sz="1300" dirty="0"/>
          </a:p>
          <a:p>
            <a:pPr indent="0" marL="0">
              <a:buNone/>
            </a:pPr>
            <a:endParaRPr lang="en-US" sz="1300" dirty="0"/>
          </a:p>
          <a:p>
            <a:pPr indent="0" marL="0">
              <a:buNone/>
            </a:pPr>
            <a:r>
              <a:rPr lang="en-US" sz="1300" dirty="0">
                <a:solidFill>
                  <a:srgbClr val="12181F"/>
                </a:solidFill>
                <a:latin typeface="Calibri" pitchFamily="34" charset="0"/>
                <a:ea typeface="Calibri" pitchFamily="34" charset="-122"/>
                <a:cs typeface="Calibri" pitchFamily="34" charset="-120"/>
              </a:rPr>
              <a:t>Ese horizonte de 24 horas es lo que hace el problema difícil, y lo dejamos así a propósito.</a:t>
            </a:r>
            <a:endParaRPr lang="en-US" sz="1300" dirty="0"/>
          </a:p>
        </p:txBody>
      </p:sp>
      <p:sp>
        <p:nvSpPr>
          <p:cNvPr id="10" name="Shape 8"/>
          <p:cNvSpPr/>
          <p:nvPr/>
        </p:nvSpPr>
        <p:spPr>
          <a:xfrm>
            <a:off x="6903720" y="1600200"/>
            <a:ext cx="4709160" cy="4389120"/>
          </a:xfrm>
          <a:prstGeom prst="roundRect">
            <a:avLst>
              <a:gd name="adj" fmla="val 1667"/>
            </a:avLst>
          </a:prstGeom>
          <a:solidFill>
            <a:srgbClr val="F4F6F9"/>
          </a:solidFill>
          <a:ln w="12700">
            <a:solidFill>
              <a:srgbClr val="E3E8EF"/>
            </a:solidFill>
            <a:prstDash val="solid"/>
          </a:ln>
        </p:spPr>
      </p:sp>
      <p:sp>
        <p:nvSpPr>
          <p:cNvPr id="11" name="Text 9"/>
          <p:cNvSpPr/>
          <p:nvPr/>
        </p:nvSpPr>
        <p:spPr>
          <a:xfrm>
            <a:off x="7196328" y="1828800"/>
            <a:ext cx="4114800" cy="310896"/>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Cómo medimos</a:t>
            </a:r>
            <a:endParaRPr lang="en-US" sz="1400" dirty="0"/>
          </a:p>
        </p:txBody>
      </p:sp>
      <p:sp>
        <p:nvSpPr>
          <p:cNvPr id="12" name="Text 10"/>
          <p:cNvSpPr/>
          <p:nvPr/>
        </p:nvSpPr>
        <p:spPr>
          <a:xfrm>
            <a:off x="7196328" y="2212848"/>
            <a:ext cx="4114800" cy="548640"/>
          </a:xfrm>
          <a:prstGeom prst="rect">
            <a:avLst/>
          </a:prstGeom>
          <a:noFill/>
          <a:ln/>
        </p:spPr>
        <p:txBody>
          <a:bodyPr wrap="square" lIns="0" tIns="0" rIns="0" bIns="0" rtlCol="0" anchor="ctr"/>
          <a:lstStyle/>
          <a:p>
            <a:pPr indent="0" marL="0">
              <a:buNone/>
            </a:pPr>
            <a:r>
              <a:rPr lang="en-US" sz="1300" b="1" dirty="0">
                <a:solidFill>
                  <a:srgbClr val="12181F"/>
                </a:solidFill>
                <a:latin typeface="Calibri" pitchFamily="34" charset="0"/>
                <a:ea typeface="Calibri" pitchFamily="34" charset="-122"/>
                <a:cs typeface="Calibri" pitchFamily="34" charset="-120"/>
              </a:rPr>
              <a:t>MAE en µg/m³ </a:t>
            </a:r>
            <a:pPr indent="0" marL="0">
              <a:buNone/>
            </a:pPr>
            <a:r>
              <a:rPr lang="en-US" sz="1300" dirty="0">
                <a:solidFill>
                  <a:srgbClr val="12181F"/>
                </a:solidFill>
                <a:latin typeface="Calibri" pitchFamily="34" charset="0"/>
                <a:ea typeface="Calibri" pitchFamily="34" charset="-122"/>
                <a:cs typeface="Calibri" pitchFamily="34" charset="-120"/>
              </a:rPr>
              <a:t>— "en promedio nos equivocamos por tantos microgramos"</a:t>
            </a:r>
            <a:endParaRPr lang="en-US" sz="1300" dirty="0"/>
          </a:p>
        </p:txBody>
      </p:sp>
      <p:sp>
        <p:nvSpPr>
          <p:cNvPr id="13" name="Text 11"/>
          <p:cNvSpPr/>
          <p:nvPr/>
        </p:nvSpPr>
        <p:spPr>
          <a:xfrm>
            <a:off x="7196328" y="2880360"/>
            <a:ext cx="4114800" cy="310896"/>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Por qué el MAPE no sirve acá</a:t>
            </a:r>
            <a:endParaRPr lang="en-US" sz="1400" dirty="0"/>
          </a:p>
        </p:txBody>
      </p:sp>
      <p:sp>
        <p:nvSpPr>
          <p:cNvPr id="14" name="Text 12"/>
          <p:cNvSpPr/>
          <p:nvPr/>
        </p:nvSpPr>
        <p:spPr>
          <a:xfrm>
            <a:off x="7196328" y="3264408"/>
            <a:ext cx="4114800" cy="914400"/>
          </a:xfrm>
          <a:prstGeom prst="rect">
            <a:avLst/>
          </a:prstGeom>
          <a:noFill/>
          <a:ln/>
        </p:spPr>
        <p:txBody>
          <a:bodyPr wrap="square" lIns="0" tIns="0" rIns="0" bIns="0" rtlCol="0" anchor="t"/>
          <a:lstStyle/>
          <a:p>
            <a:pPr indent="0" marL="0">
              <a:buNone/>
            </a:pPr>
            <a:r>
              <a:rPr lang="en-US" sz="1300" dirty="0">
                <a:solidFill>
                  <a:srgbClr val="12181F"/>
                </a:solidFill>
                <a:latin typeface="Calibri" pitchFamily="34" charset="0"/>
                <a:ea typeface="Calibri" pitchFamily="34" charset="-122"/>
                <a:cs typeface="Calibri" pitchFamily="34" charset="-120"/>
              </a:rPr>
              <a:t>El lote 2 tiene el MAPE más alto (78.7%) y NO el peor MAE. Cuando el benceno baja en invierno, un error chiquito se vuelve un porcentaje enorme.</a:t>
            </a:r>
            <a:endParaRPr lang="en-US" sz="1300" dirty="0"/>
          </a:p>
        </p:txBody>
      </p:sp>
      <p:sp>
        <p:nvSpPr>
          <p:cNvPr id="15" name="Text 13"/>
          <p:cNvSpPr/>
          <p:nvPr/>
        </p:nvSpPr>
        <p:spPr>
          <a:xfrm>
            <a:off x="7196328" y="4315968"/>
            <a:ext cx="4114800" cy="310896"/>
          </a:xfrm>
          <a:prstGeom prst="rect">
            <a:avLst/>
          </a:prstGeom>
          <a:noFill/>
          <a:ln/>
        </p:spPr>
        <p:txBody>
          <a:bodyPr wrap="square" lIns="0" tIns="0" rIns="0" bIns="0" rtlCol="0" anchor="ctr"/>
          <a:lstStyle/>
          <a:p>
            <a:pPr indent="0" marL="0">
              <a:buNone/>
            </a:pPr>
            <a:r>
              <a:rPr lang="en-US" sz="1400" b="1" dirty="0">
                <a:solidFill>
                  <a:srgbClr val="1BAF7A"/>
                </a:solidFill>
                <a:latin typeface="Calibri" pitchFamily="34" charset="0"/>
                <a:ea typeface="Calibri" pitchFamily="34" charset="-122"/>
                <a:cs typeface="Calibri" pitchFamily="34" charset="-120"/>
              </a:rPr>
              <a:t>Lo que nos pusimos como meta</a:t>
            </a:r>
            <a:endParaRPr lang="en-US" sz="1400" dirty="0"/>
          </a:p>
        </p:txBody>
      </p:sp>
      <p:sp>
        <p:nvSpPr>
          <p:cNvPr id="16" name="Text 14"/>
          <p:cNvSpPr/>
          <p:nvPr/>
        </p:nvSpPr>
        <p:spPr>
          <a:xfrm>
            <a:off x="7196328" y="4700016"/>
            <a:ext cx="4114800" cy="10058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2181F"/>
                </a:solidFill>
                <a:latin typeface="Calibri" pitchFamily="34" charset="0"/>
                <a:ea typeface="Calibri" pitchFamily="34" charset="-122"/>
                <a:cs typeface="Calibri" pitchFamily="34" charset="-120"/>
              </a:rPr>
              <a:t>Ganarle al menos 10% al baseline</a:t>
            </a:r>
            <a:endParaRPr lang="en-US" sz="1300" dirty="0"/>
          </a:p>
          <a:p>
            <a:pPr marL="342900" indent="-342900">
              <a:spcAft>
                <a:spcPts val="400"/>
              </a:spcAft>
              <a:buSzPct val="100000"/>
              <a:buChar char="•"/>
            </a:pPr>
            <a:r>
              <a:rPr lang="en-US" sz="1300" dirty="0">
                <a:solidFill>
                  <a:srgbClr val="12181F"/>
                </a:solidFill>
                <a:latin typeface="Calibri" pitchFamily="34" charset="0"/>
                <a:ea typeface="Calibri" pitchFamily="34" charset="-122"/>
                <a:cs typeface="Calibri" pitchFamily="34" charset="-120"/>
              </a:rPr>
              <a:t>No pasar de 5 µg/m³ de error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Los datos, y lo que encontramos al leerlos</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Air Quality de UCI · 9 357 horas seguidas · marzo 2004 a abril 2005</a:t>
            </a:r>
            <a:endParaRPr lang="en-US" sz="1400" dirty="0"/>
          </a:p>
        </p:txBody>
      </p:sp>
      <p:sp>
        <p:nvSpPr>
          <p:cNvPr id="6" name="Shape 4"/>
          <p:cNvSpPr/>
          <p:nvPr/>
        </p:nvSpPr>
        <p:spPr>
          <a:xfrm>
            <a:off x="566928" y="1728216"/>
            <a:ext cx="384048" cy="384048"/>
          </a:xfrm>
          <a:prstGeom prst="ellipse">
            <a:avLst/>
          </a:prstGeom>
          <a:solidFill>
            <a:srgbClr val="2A78D6"/>
          </a:solidFill>
          <a:ln/>
        </p:spPr>
      </p:sp>
      <p:sp>
        <p:nvSpPr>
          <p:cNvPr id="7" name="Text 5"/>
          <p:cNvSpPr/>
          <p:nvPr/>
        </p:nvSpPr>
        <p:spPr>
          <a:xfrm>
            <a:off x="566928" y="17282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097280" y="1691640"/>
            <a:ext cx="5870448" cy="292608"/>
          </a:xfrm>
          <a:prstGeom prst="rect">
            <a:avLst/>
          </a:prstGeom>
          <a:noFill/>
          <a:ln/>
        </p:spPr>
        <p:txBody>
          <a:bodyPr wrap="square" lIns="0" tIns="0" rIns="0" bIns="0" rtlCol="0" anchor="ctr"/>
          <a:lstStyle/>
          <a:p>
            <a:pPr indent="0" marL="0">
              <a:buNone/>
            </a:pPr>
            <a:r>
              <a:rPr lang="en-US" sz="1400" b="1" dirty="0">
                <a:solidFill>
                  <a:srgbClr val="12181F"/>
                </a:solidFill>
                <a:latin typeface="Calibri" pitchFamily="34" charset="0"/>
                <a:ea typeface="Calibri" pitchFamily="34" charset="-122"/>
                <a:cs typeface="Calibri" pitchFamily="34" charset="-120"/>
              </a:rPr>
              <a:t>El archivo está mal formado para lectura directa</a:t>
            </a:r>
            <a:endParaRPr lang="en-US" sz="1400" dirty="0"/>
          </a:p>
        </p:txBody>
      </p:sp>
      <p:sp>
        <p:nvSpPr>
          <p:cNvPr id="9" name="Text 7"/>
          <p:cNvSpPr/>
          <p:nvPr/>
        </p:nvSpPr>
        <p:spPr>
          <a:xfrm>
            <a:off x="1097280" y="1984248"/>
            <a:ext cx="5870448" cy="658368"/>
          </a:xfrm>
          <a:prstGeom prst="rect">
            <a:avLst/>
          </a:prstGeom>
          <a:noFill/>
          <a:ln/>
        </p:spPr>
        <p:txBody>
          <a:bodyPr wrap="square" lIns="0" tIns="0" rIns="0" bIns="0" rtlCol="0" anchor="t"/>
          <a:lstStyle/>
          <a:p>
            <a:pPr indent="0" marL="0">
              <a:buNone/>
            </a:pPr>
            <a:r>
              <a:rPr lang="en-US" sz="1150" dirty="0">
                <a:solidFill>
                  <a:srgbClr val="5C6570"/>
                </a:solidFill>
                <a:latin typeface="Calibri" pitchFamily="34" charset="0"/>
                <a:ea typeface="Calibri" pitchFamily="34" charset="-122"/>
                <a:cs typeface="Calibri" pitchFamily="34" charset="-120"/>
              </a:rPr>
              <a:t>Separador punto y coma, coma como decimal, columnas y filas vacías. Leído normal, todos los números entran como texto.</a:t>
            </a:r>
            <a:endParaRPr lang="en-US" sz="1150" dirty="0"/>
          </a:p>
        </p:txBody>
      </p:sp>
      <p:sp>
        <p:nvSpPr>
          <p:cNvPr id="10" name="Shape 8"/>
          <p:cNvSpPr/>
          <p:nvPr/>
        </p:nvSpPr>
        <p:spPr>
          <a:xfrm>
            <a:off x="566928" y="2825496"/>
            <a:ext cx="384048" cy="384048"/>
          </a:xfrm>
          <a:prstGeom prst="ellipse">
            <a:avLst/>
          </a:prstGeom>
          <a:solidFill>
            <a:srgbClr val="2A78D6"/>
          </a:solidFill>
          <a:ln/>
        </p:spPr>
      </p:sp>
      <p:sp>
        <p:nvSpPr>
          <p:cNvPr id="11" name="Text 9"/>
          <p:cNvSpPr/>
          <p:nvPr/>
        </p:nvSpPr>
        <p:spPr>
          <a:xfrm>
            <a:off x="566928" y="28254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97280" y="2788920"/>
            <a:ext cx="5870448" cy="292608"/>
          </a:xfrm>
          <a:prstGeom prst="rect">
            <a:avLst/>
          </a:prstGeom>
          <a:noFill/>
          <a:ln/>
        </p:spPr>
        <p:txBody>
          <a:bodyPr wrap="square" lIns="0" tIns="0" rIns="0" bIns="0" rtlCol="0" anchor="ctr"/>
          <a:lstStyle/>
          <a:p>
            <a:pPr indent="0" marL="0">
              <a:buNone/>
            </a:pPr>
            <a:r>
              <a:rPr lang="en-US" sz="1400" b="1" dirty="0">
                <a:solidFill>
                  <a:srgbClr val="12181F"/>
                </a:solidFill>
                <a:latin typeface="Calibri" pitchFamily="34" charset="0"/>
                <a:ea typeface="Calibri" pitchFamily="34" charset="-122"/>
                <a:cs typeface="Calibri" pitchFamily="34" charset="-120"/>
              </a:rPr>
              <a:t>Los faltantes vienen escritos como −200</a:t>
            </a:r>
            <a:endParaRPr lang="en-US" sz="1400" dirty="0"/>
          </a:p>
        </p:txBody>
      </p:sp>
      <p:sp>
        <p:nvSpPr>
          <p:cNvPr id="13" name="Text 11"/>
          <p:cNvSpPr/>
          <p:nvPr/>
        </p:nvSpPr>
        <p:spPr>
          <a:xfrm>
            <a:off x="1097280" y="3081528"/>
            <a:ext cx="5870448" cy="658368"/>
          </a:xfrm>
          <a:prstGeom prst="rect">
            <a:avLst/>
          </a:prstGeom>
          <a:noFill/>
          <a:ln/>
        </p:spPr>
        <p:txBody>
          <a:bodyPr wrap="square" lIns="0" tIns="0" rIns="0" bIns="0" rtlCol="0" anchor="t"/>
          <a:lstStyle/>
          <a:p>
            <a:pPr indent="0" marL="0">
              <a:buNone/>
            </a:pPr>
            <a:r>
              <a:rPr lang="en-US" sz="1150" dirty="0">
                <a:solidFill>
                  <a:srgbClr val="5C6570"/>
                </a:solidFill>
                <a:latin typeface="Calibri" pitchFamily="34" charset="0"/>
                <a:ea typeface="Calibri" pitchFamily="34" charset="-122"/>
                <a:cs typeface="Calibri" pitchFamily="34" charset="-120"/>
              </a:rPr>
              <a:t>No son celdas vacías. Sin convertirlos primero, los promedios salen negativos y todo el análisis queda mal.</a:t>
            </a:r>
            <a:endParaRPr lang="en-US" sz="1150" dirty="0"/>
          </a:p>
        </p:txBody>
      </p:sp>
      <p:sp>
        <p:nvSpPr>
          <p:cNvPr id="14" name="Shape 12"/>
          <p:cNvSpPr/>
          <p:nvPr/>
        </p:nvSpPr>
        <p:spPr>
          <a:xfrm>
            <a:off x="566928" y="3922776"/>
            <a:ext cx="384048" cy="384048"/>
          </a:xfrm>
          <a:prstGeom prst="ellipse">
            <a:avLst/>
          </a:prstGeom>
          <a:solidFill>
            <a:srgbClr val="EB6834"/>
          </a:solidFill>
          <a:ln/>
        </p:spPr>
      </p:sp>
      <p:sp>
        <p:nvSpPr>
          <p:cNvPr id="15" name="Text 13"/>
          <p:cNvSpPr/>
          <p:nvPr/>
        </p:nvSpPr>
        <p:spPr>
          <a:xfrm>
            <a:off x="566928" y="39227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097280" y="3886200"/>
            <a:ext cx="5870448" cy="292608"/>
          </a:xfrm>
          <a:prstGeom prst="rect">
            <a:avLst/>
          </a:prstGeom>
          <a:noFill/>
          <a:ln/>
        </p:spPr>
        <p:txBody>
          <a:bodyPr wrap="square" lIns="0" tIns="0" rIns="0" bIns="0" rtlCol="0" anchor="ctr"/>
          <a:lstStyle/>
          <a:p>
            <a:pPr indent="0" marL="0">
              <a:buNone/>
            </a:pPr>
            <a:r>
              <a:rPr lang="en-US" sz="1400" b="1" dirty="0">
                <a:solidFill>
                  <a:srgbClr val="12181F"/>
                </a:solidFill>
                <a:latin typeface="Calibri" pitchFamily="34" charset="0"/>
                <a:ea typeface="Calibri" pitchFamily="34" charset="-122"/>
                <a:cs typeface="Calibri" pitchFamily="34" charset="-120"/>
              </a:rPr>
              <a:t>Los huecos no están sueltos: son apagones del equipo</a:t>
            </a:r>
            <a:endParaRPr lang="en-US" sz="1400" dirty="0"/>
          </a:p>
        </p:txBody>
      </p:sp>
      <p:sp>
        <p:nvSpPr>
          <p:cNvPr id="17" name="Text 15"/>
          <p:cNvSpPr/>
          <p:nvPr/>
        </p:nvSpPr>
        <p:spPr>
          <a:xfrm>
            <a:off x="1097280" y="4178808"/>
            <a:ext cx="5870448" cy="658368"/>
          </a:xfrm>
          <a:prstGeom prst="rect">
            <a:avLst/>
          </a:prstGeom>
          <a:noFill/>
          <a:ln/>
        </p:spPr>
        <p:txBody>
          <a:bodyPr wrap="square" lIns="0" tIns="0" rIns="0" bIns="0" rtlCol="0" anchor="t"/>
          <a:lstStyle/>
          <a:p>
            <a:pPr indent="0" marL="0">
              <a:buNone/>
            </a:pPr>
            <a:r>
              <a:rPr lang="en-US" sz="1150" dirty="0">
                <a:solidFill>
                  <a:srgbClr val="5C6570"/>
                </a:solidFill>
                <a:latin typeface="Calibri" pitchFamily="34" charset="0"/>
                <a:ea typeface="Calibri" pitchFamily="34" charset="-122"/>
                <a:cs typeface="Calibri" pitchFamily="34" charset="-120"/>
              </a:rPr>
              <a:t>366 faltantes que en realidad son 16 periodos continuos sin medir. El más largo dura 76 horas. Esto cambió cómo limpiamos.</a:t>
            </a:r>
            <a:endParaRPr lang="en-US" sz="1150" dirty="0"/>
          </a:p>
        </p:txBody>
      </p:sp>
      <p:sp>
        <p:nvSpPr>
          <p:cNvPr id="18" name="Shape 16"/>
          <p:cNvSpPr/>
          <p:nvPr/>
        </p:nvSpPr>
        <p:spPr>
          <a:xfrm>
            <a:off x="566928" y="5120640"/>
            <a:ext cx="6400800" cy="914400"/>
          </a:xfrm>
          <a:prstGeom prst="roundRect">
            <a:avLst>
              <a:gd name="adj" fmla="val 8000"/>
            </a:avLst>
          </a:prstGeom>
          <a:solidFill>
            <a:srgbClr val="F4F6F9"/>
          </a:solidFill>
          <a:ln w="12700">
            <a:solidFill>
              <a:srgbClr val="E3E8EF"/>
            </a:solidFill>
            <a:prstDash val="solid"/>
          </a:ln>
        </p:spPr>
      </p:sp>
      <p:sp>
        <p:nvSpPr>
          <p:cNvPr id="19" name="Text 17"/>
          <p:cNvSpPr/>
          <p:nvPr/>
        </p:nvSpPr>
        <p:spPr>
          <a:xfrm>
            <a:off x="841248" y="5230368"/>
            <a:ext cx="5852160" cy="731520"/>
          </a:xfrm>
          <a:prstGeom prst="rect">
            <a:avLst/>
          </a:prstGeom>
          <a:noFill/>
          <a:ln/>
        </p:spPr>
        <p:txBody>
          <a:bodyPr wrap="square" lIns="0" tIns="0" rIns="0" bIns="0" rtlCol="0" anchor="ctr"/>
          <a:lstStyle/>
          <a:p>
            <a:pPr indent="0" marL="0">
              <a:buNone/>
            </a:pPr>
            <a:r>
              <a:rPr lang="en-US" sz="1250" i="1" dirty="0">
                <a:solidFill>
                  <a:srgbClr val="12181F"/>
                </a:solidFill>
                <a:latin typeface="Calibri" pitchFamily="34" charset="0"/>
                <a:ea typeface="Calibri" pitchFamily="34" charset="-122"/>
                <a:cs typeface="Calibri" pitchFamily="34" charset="-120"/>
              </a:rPr>
              <a:t>Por eso interpolamos solo los huecos que caben enteros en 3 horas. Rellenar tres días seguidos sería inventar datos.</a:t>
            </a:r>
            <a:endParaRPr lang="en-US" sz="1250" dirty="0"/>
          </a:p>
        </p:txBody>
      </p:sp>
      <p:sp>
        <p:nvSpPr>
          <p:cNvPr id="20" name="Shape 18"/>
          <p:cNvSpPr/>
          <p:nvPr/>
        </p:nvSpPr>
        <p:spPr>
          <a:xfrm>
            <a:off x="7360920" y="1691640"/>
            <a:ext cx="4251960" cy="4343400"/>
          </a:xfrm>
          <a:prstGeom prst="roundRect">
            <a:avLst>
              <a:gd name="adj" fmla="val 1720"/>
            </a:avLst>
          </a:prstGeom>
          <a:solidFill>
            <a:srgbClr val="F4F6F9"/>
          </a:solidFill>
          <a:ln w="12700">
            <a:solidFill>
              <a:srgbClr val="E3E8EF"/>
            </a:solidFill>
            <a:prstDash val="solid"/>
          </a:ln>
        </p:spPr>
      </p:sp>
      <p:sp>
        <p:nvSpPr>
          <p:cNvPr id="21" name="Text 19"/>
          <p:cNvSpPr/>
          <p:nvPr/>
        </p:nvSpPr>
        <p:spPr>
          <a:xfrm>
            <a:off x="7360920" y="1874520"/>
            <a:ext cx="4251960" cy="658368"/>
          </a:xfrm>
          <a:prstGeom prst="rect">
            <a:avLst/>
          </a:prstGeom>
          <a:noFill/>
          <a:ln/>
        </p:spPr>
        <p:txBody>
          <a:bodyPr wrap="square" lIns="0" tIns="0" rIns="0" bIns="0" rtlCol="0" anchor="ctr"/>
          <a:lstStyle/>
          <a:p>
            <a:pPr algn="ctr" indent="0" marL="0">
              <a:buNone/>
            </a:pPr>
            <a:r>
              <a:rPr lang="en-US" sz="3800" b="1" dirty="0">
                <a:solidFill>
                  <a:srgbClr val="2A78D6"/>
                </a:solidFill>
                <a:latin typeface="Cambria" pitchFamily="34" charset="0"/>
                <a:ea typeface="Cambria" pitchFamily="34" charset="-122"/>
                <a:cs typeface="Cambria" pitchFamily="34" charset="-120"/>
              </a:rPr>
              <a:t>9 357</a:t>
            </a:r>
            <a:endParaRPr lang="en-US" sz="3800" dirty="0"/>
          </a:p>
        </p:txBody>
      </p:sp>
      <p:sp>
        <p:nvSpPr>
          <p:cNvPr id="22" name="Text 20"/>
          <p:cNvSpPr/>
          <p:nvPr/>
        </p:nvSpPr>
        <p:spPr>
          <a:xfrm>
            <a:off x="7360920" y="2532888"/>
            <a:ext cx="4251960"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horas en el archivo original</a:t>
            </a:r>
            <a:endParaRPr lang="en-US" sz="1100" dirty="0"/>
          </a:p>
        </p:txBody>
      </p:sp>
      <p:sp>
        <p:nvSpPr>
          <p:cNvPr id="23" name="Text 21"/>
          <p:cNvSpPr/>
          <p:nvPr/>
        </p:nvSpPr>
        <p:spPr>
          <a:xfrm>
            <a:off x="7360920" y="2971800"/>
            <a:ext cx="4251960" cy="658368"/>
          </a:xfrm>
          <a:prstGeom prst="rect">
            <a:avLst/>
          </a:prstGeom>
          <a:noFill/>
          <a:ln/>
        </p:spPr>
        <p:txBody>
          <a:bodyPr wrap="square" lIns="0" tIns="0" rIns="0" bIns="0" rtlCol="0" anchor="ctr"/>
          <a:lstStyle/>
          <a:p>
            <a:pPr algn="ctr" indent="0" marL="0">
              <a:buNone/>
            </a:pPr>
            <a:r>
              <a:rPr lang="en-US" sz="3800" b="1" dirty="0">
                <a:solidFill>
                  <a:srgbClr val="EB6834"/>
                </a:solidFill>
                <a:latin typeface="Cambria" pitchFamily="34" charset="0"/>
                <a:ea typeface="Cambria" pitchFamily="34" charset="-122"/>
                <a:cs typeface="Cambria" pitchFamily="34" charset="-120"/>
              </a:rPr>
              <a:t>16</a:t>
            </a:r>
            <a:endParaRPr lang="en-US" sz="3800" dirty="0"/>
          </a:p>
        </p:txBody>
      </p:sp>
      <p:sp>
        <p:nvSpPr>
          <p:cNvPr id="24" name="Text 22"/>
          <p:cNvSpPr/>
          <p:nvPr/>
        </p:nvSpPr>
        <p:spPr>
          <a:xfrm>
            <a:off x="7360920" y="3630168"/>
            <a:ext cx="4251960"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apagones del equipo, el mayor de 76 horas</a:t>
            </a:r>
            <a:endParaRPr lang="en-US" sz="1100" dirty="0"/>
          </a:p>
        </p:txBody>
      </p:sp>
      <p:sp>
        <p:nvSpPr>
          <p:cNvPr id="25" name="Text 23"/>
          <p:cNvSpPr/>
          <p:nvPr/>
        </p:nvSpPr>
        <p:spPr>
          <a:xfrm>
            <a:off x="7360920" y="4160520"/>
            <a:ext cx="4251960" cy="658368"/>
          </a:xfrm>
          <a:prstGeom prst="rect">
            <a:avLst/>
          </a:prstGeom>
          <a:noFill/>
          <a:ln/>
        </p:spPr>
        <p:txBody>
          <a:bodyPr wrap="square" lIns="0" tIns="0" rIns="0" bIns="0" rtlCol="0" anchor="ctr"/>
          <a:lstStyle/>
          <a:p>
            <a:pPr algn="ctr" indent="0" marL="0">
              <a:buNone/>
            </a:pPr>
            <a:r>
              <a:rPr lang="en-US" sz="3800" b="1" dirty="0">
                <a:solidFill>
                  <a:srgbClr val="5C6570"/>
                </a:solidFill>
                <a:latin typeface="Cambria" pitchFamily="34" charset="0"/>
                <a:ea typeface="Cambria" pitchFamily="34" charset="-122"/>
                <a:cs typeface="Cambria" pitchFamily="34" charset="-120"/>
              </a:rPr>
              <a:t>90.23%</a:t>
            </a:r>
            <a:endParaRPr lang="en-US" sz="3800" dirty="0"/>
          </a:p>
        </p:txBody>
      </p:sp>
      <p:sp>
        <p:nvSpPr>
          <p:cNvPr id="26" name="Text 24"/>
          <p:cNvSpPr/>
          <p:nvPr/>
        </p:nvSpPr>
        <p:spPr>
          <a:xfrm>
            <a:off x="7360920" y="4818888"/>
            <a:ext cx="4251960"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de NMHC(GT) son faltantes: se descarta la columna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Arquitectura</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Cada caja lleva debajo el archivo del repositorio que la implementa</a:t>
            </a:r>
            <a:endParaRPr lang="en-US" sz="1400" dirty="0"/>
          </a:p>
        </p:txBody>
      </p:sp>
      <p:pic>
        <p:nvPicPr>
          <p:cNvPr id="6" name="Image 0" descr="/home/claude/trabajo/repo/reports/figuras/12_arquitectura_lamina.png">    </p:cNvPr>
          <p:cNvPicPr>
            <a:picLocks noChangeAspect="1"/>
          </p:cNvPicPr>
          <p:nvPr/>
        </p:nvPicPr>
        <p:blipFill>
          <a:blip r:embed="rId1"/>
          <a:stretch>
            <a:fillRect/>
          </a:stretch>
        </p:blipFill>
        <p:spPr>
          <a:xfrm>
            <a:off x="658368" y="1371600"/>
            <a:ext cx="10881360" cy="49834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Data Quality Gates</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Nueve reglas que corren dos veces: a la entrada y a la salida de la limpieza</a:t>
            </a:r>
            <a:endParaRPr lang="en-US" sz="1400" dirty="0"/>
          </a:p>
        </p:txBody>
      </p:sp>
      <p:sp>
        <p:nvSpPr>
          <p:cNvPr id="6" name="Shape 4"/>
          <p:cNvSpPr/>
          <p:nvPr/>
        </p:nvSpPr>
        <p:spPr>
          <a:xfrm>
            <a:off x="566928" y="1691640"/>
            <a:ext cx="5486400" cy="4206240"/>
          </a:xfrm>
          <a:prstGeom prst="roundRect">
            <a:avLst>
              <a:gd name="adj" fmla="val 1739"/>
            </a:avLst>
          </a:prstGeom>
          <a:solidFill>
            <a:srgbClr val="F4F6F9"/>
          </a:solidFill>
          <a:ln w="12700">
            <a:solidFill>
              <a:srgbClr val="E3E8EF"/>
            </a:solidFill>
            <a:prstDash val="solid"/>
          </a:ln>
        </p:spPr>
      </p:sp>
      <p:sp>
        <p:nvSpPr>
          <p:cNvPr id="7" name="Text 5"/>
          <p:cNvSpPr/>
          <p:nvPr/>
        </p:nvSpPr>
        <p:spPr>
          <a:xfrm>
            <a:off x="859536" y="1874520"/>
            <a:ext cx="4937760" cy="310896"/>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Reglas duras — detienen el pipeline</a:t>
            </a:r>
            <a:endParaRPr lang="en-US" sz="1400" dirty="0"/>
          </a:p>
        </p:txBody>
      </p:sp>
      <p:sp>
        <p:nvSpPr>
          <p:cNvPr id="8" name="Text 6"/>
          <p:cNvSpPr/>
          <p:nvPr/>
        </p:nvSpPr>
        <p:spPr>
          <a:xfrm>
            <a:off x="859536" y="2286000"/>
            <a:ext cx="4937760" cy="1828800"/>
          </a:xfrm>
          <a:prstGeom prst="rect">
            <a:avLst/>
          </a:prstGeom>
          <a:noFill/>
          <a:ln/>
        </p:spPr>
        <p:txBody>
          <a:bodyPr wrap="square" lIns="0" tIns="0" rIns="0" bIns="0" rtlCol="0" anchor="ctr"/>
          <a:lstStyle/>
          <a:p>
            <a:pPr indent="0" marL="0">
              <a:lnSpc>
                <a:spcPts val="2100"/>
              </a:lnSpc>
              <a:buNone/>
            </a:pPr>
            <a:r>
              <a:rPr lang="en-US" sz="1250" dirty="0">
                <a:solidFill>
                  <a:srgbClr val="12181F"/>
                </a:solidFill>
                <a:latin typeface="Calibri" pitchFamily="34" charset="0"/>
                <a:ea typeface="Calibri" pitchFamily="34" charset="-122"/>
                <a:cs typeface="Calibri" pitchFamily="34" charset="-120"/>
              </a:rPr>
              <a:t>R01  el esquema de columnas es el esperado</a:t>
            </a:r>
            <a:endParaRPr lang="en-US" sz="1250" dirty="0"/>
          </a:p>
          <a:p>
            <a:pPr indent="0" marL="0">
              <a:lnSpc>
                <a:spcPts val="2100"/>
              </a:lnSpc>
              <a:buNone/>
            </a:pPr>
            <a:r>
              <a:rPr lang="en-US" sz="1250" dirty="0">
                <a:solidFill>
                  <a:srgbClr val="12181F"/>
                </a:solidFill>
                <a:latin typeface="Calibri" pitchFamily="34" charset="0"/>
                <a:ea typeface="Calibri" pitchFamily="34" charset="-122"/>
                <a:cs typeface="Calibri" pitchFamily="34" charset="-120"/>
              </a:rPr>
              <a:t>R02  llega la cantidad mínima de filas</a:t>
            </a:r>
            <a:endParaRPr lang="en-US" sz="1250" dirty="0"/>
          </a:p>
          <a:p>
            <a:pPr indent="0" marL="0">
              <a:lnSpc>
                <a:spcPts val="2100"/>
              </a:lnSpc>
              <a:buNone/>
            </a:pPr>
            <a:r>
              <a:rPr lang="en-US" sz="1250" dirty="0">
                <a:solidFill>
                  <a:srgbClr val="12181F"/>
                </a:solidFill>
                <a:latin typeface="Calibri" pitchFamily="34" charset="0"/>
                <a:ea typeface="Calibri" pitchFamily="34" charset="-122"/>
                <a:cs typeface="Calibri" pitchFamily="34" charset="-120"/>
              </a:rPr>
              <a:t>R03  no hay marcas de tiempo repetidas</a:t>
            </a:r>
            <a:endParaRPr lang="en-US" sz="1250" dirty="0"/>
          </a:p>
          <a:p>
            <a:pPr indent="0" marL="0">
              <a:lnSpc>
                <a:spcPts val="2100"/>
              </a:lnSpc>
              <a:buNone/>
            </a:pPr>
            <a:r>
              <a:rPr lang="en-US" sz="1250" dirty="0">
                <a:solidFill>
                  <a:srgbClr val="12181F"/>
                </a:solidFill>
                <a:latin typeface="Calibri" pitchFamily="34" charset="0"/>
                <a:ea typeface="Calibri" pitchFamily="34" charset="-122"/>
                <a:cs typeface="Calibri" pitchFamily="34" charset="-120"/>
              </a:rPr>
              <a:t>R05  los valores están en rangos físicos posibles</a:t>
            </a:r>
            <a:endParaRPr lang="en-US" sz="1250" dirty="0"/>
          </a:p>
          <a:p>
            <a:pPr indent="0" marL="0">
              <a:lnSpc>
                <a:spcPts val="2100"/>
              </a:lnSpc>
              <a:buNone/>
            </a:pPr>
            <a:r>
              <a:rPr lang="en-US" sz="1250" dirty="0">
                <a:solidFill>
                  <a:srgbClr val="12181F"/>
                </a:solidFill>
                <a:latin typeface="Calibri" pitchFamily="34" charset="0"/>
                <a:ea typeface="Calibri" pitchFamily="34" charset="-122"/>
                <a:cs typeface="Calibri" pitchFamily="34" charset="-120"/>
              </a:rPr>
              <a:t>R07  no hay más de 1% de filas duplicadas</a:t>
            </a:r>
            <a:endParaRPr lang="en-US" sz="1250" dirty="0"/>
          </a:p>
          <a:p>
            <a:pPr indent="0" marL="0">
              <a:lnSpc>
                <a:spcPts val="2100"/>
              </a:lnSpc>
              <a:buNone/>
            </a:pPr>
            <a:r>
              <a:rPr lang="en-US" sz="1250" dirty="0">
                <a:solidFill>
                  <a:srgbClr val="12181F"/>
                </a:solidFill>
                <a:latin typeface="Calibri" pitchFamily="34" charset="0"/>
                <a:ea typeface="Calibri" pitchFamily="34" charset="-122"/>
                <a:cs typeface="Calibri" pitchFamily="34" charset="-120"/>
              </a:rPr>
              <a:t>R09  los tipos de dato son numéricos donde deben</a:t>
            </a:r>
            <a:endParaRPr lang="en-US" sz="1250" dirty="0"/>
          </a:p>
        </p:txBody>
      </p:sp>
      <p:sp>
        <p:nvSpPr>
          <p:cNvPr id="9" name="Text 7"/>
          <p:cNvSpPr/>
          <p:nvPr/>
        </p:nvSpPr>
        <p:spPr>
          <a:xfrm>
            <a:off x="859536" y="4206240"/>
            <a:ext cx="4937760" cy="310896"/>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Reglas blandas — avisan y siguen</a:t>
            </a:r>
            <a:endParaRPr lang="en-US" sz="1400" dirty="0"/>
          </a:p>
        </p:txBody>
      </p:sp>
      <p:sp>
        <p:nvSpPr>
          <p:cNvPr id="10" name="Text 8"/>
          <p:cNvSpPr/>
          <p:nvPr/>
        </p:nvSpPr>
        <p:spPr>
          <a:xfrm>
            <a:off x="859536" y="4617720"/>
            <a:ext cx="4937760" cy="1005840"/>
          </a:xfrm>
          <a:prstGeom prst="rect">
            <a:avLst/>
          </a:prstGeom>
          <a:noFill/>
          <a:ln/>
        </p:spPr>
        <p:txBody>
          <a:bodyPr wrap="square" lIns="0" tIns="0" rIns="0" bIns="0" rtlCol="0" anchor="ctr"/>
          <a:lstStyle/>
          <a:p>
            <a:pPr indent="0" marL="0">
              <a:lnSpc>
                <a:spcPts val="2100"/>
              </a:lnSpc>
              <a:buNone/>
            </a:pPr>
            <a:r>
              <a:rPr lang="en-US" sz="1250" dirty="0">
                <a:solidFill>
                  <a:srgbClr val="12181F"/>
                </a:solidFill>
                <a:latin typeface="Calibri" pitchFamily="34" charset="0"/>
                <a:ea typeface="Calibri" pitchFamily="34" charset="-122"/>
                <a:cs typeface="Calibri" pitchFamily="34" charset="-120"/>
              </a:rPr>
              <a:t>R04  la serie horaria es continua</a:t>
            </a:r>
            <a:endParaRPr lang="en-US" sz="1250" dirty="0"/>
          </a:p>
          <a:p>
            <a:pPr indent="0" marL="0">
              <a:lnSpc>
                <a:spcPts val="2100"/>
              </a:lnSpc>
              <a:buNone/>
            </a:pPr>
            <a:r>
              <a:rPr lang="en-US" sz="1250" dirty="0">
                <a:solidFill>
                  <a:srgbClr val="12181F"/>
                </a:solidFill>
                <a:latin typeface="Calibri" pitchFamily="34" charset="0"/>
                <a:ea typeface="Calibri" pitchFamily="34" charset="-122"/>
                <a:cs typeface="Calibri" pitchFamily="34" charset="-120"/>
              </a:rPr>
              <a:t>R06  el target no pasa de 10% de huecos</a:t>
            </a:r>
            <a:endParaRPr lang="en-US" sz="1250" dirty="0"/>
          </a:p>
          <a:p>
            <a:pPr indent="0" marL="0">
              <a:lnSpc>
                <a:spcPts val="2100"/>
              </a:lnSpc>
              <a:buNone/>
            </a:pPr>
            <a:r>
              <a:rPr lang="en-US" sz="1250" dirty="0">
                <a:solidFill>
                  <a:srgbClr val="12181F"/>
                </a:solidFill>
                <a:latin typeface="Calibri" pitchFamily="34" charset="0"/>
                <a:ea typeface="Calibri" pitchFamily="34" charset="-122"/>
                <a:cs typeface="Calibri" pitchFamily="34" charset="-120"/>
              </a:rPr>
              <a:t>R08  ninguna columna es constante</a:t>
            </a:r>
            <a:endParaRPr lang="en-US" sz="1250" dirty="0"/>
          </a:p>
        </p:txBody>
      </p:sp>
      <p:sp>
        <p:nvSpPr>
          <p:cNvPr id="11" name="Shape 9"/>
          <p:cNvSpPr/>
          <p:nvPr/>
        </p:nvSpPr>
        <p:spPr>
          <a:xfrm>
            <a:off x="6492240" y="1691640"/>
            <a:ext cx="5120640" cy="4206240"/>
          </a:xfrm>
          <a:prstGeom prst="roundRect">
            <a:avLst>
              <a:gd name="adj" fmla="val 1739"/>
            </a:avLst>
          </a:prstGeom>
          <a:solidFill>
            <a:srgbClr val="F4F6F9"/>
          </a:solidFill>
          <a:ln w="12700">
            <a:solidFill>
              <a:srgbClr val="E3E8EF"/>
            </a:solidFill>
            <a:prstDash val="solid"/>
          </a:ln>
        </p:spPr>
      </p:sp>
      <p:sp>
        <p:nvSpPr>
          <p:cNvPr id="12" name="Text 10"/>
          <p:cNvSpPr/>
          <p:nvPr/>
        </p:nvSpPr>
        <p:spPr>
          <a:xfrm>
            <a:off x="6784848" y="1874520"/>
            <a:ext cx="4572000" cy="310896"/>
          </a:xfrm>
          <a:prstGeom prst="rect">
            <a:avLst/>
          </a:prstGeom>
          <a:noFill/>
          <a:ln/>
        </p:spPr>
        <p:txBody>
          <a:bodyPr wrap="square" lIns="0" tIns="0" rIns="0" bIns="0" rtlCol="0" anchor="ctr"/>
          <a:lstStyle/>
          <a:p>
            <a:pPr indent="0" marL="0">
              <a:buNone/>
            </a:pPr>
            <a:r>
              <a:rPr lang="en-US" sz="1400" b="1" dirty="0">
                <a:solidFill>
                  <a:srgbClr val="1BAF7A"/>
                </a:solidFill>
                <a:latin typeface="Calibri" pitchFamily="34" charset="0"/>
                <a:ea typeface="Calibri" pitchFamily="34" charset="-122"/>
                <a:cs typeface="Calibri" pitchFamily="34" charset="-120"/>
              </a:rPr>
              <a:t>Por qué la diferencia importa</a:t>
            </a:r>
            <a:endParaRPr lang="en-US" sz="1400" dirty="0"/>
          </a:p>
        </p:txBody>
      </p:sp>
      <p:sp>
        <p:nvSpPr>
          <p:cNvPr id="13" name="Text 11"/>
          <p:cNvSpPr/>
          <p:nvPr/>
        </p:nvSpPr>
        <p:spPr>
          <a:xfrm>
            <a:off x="6784848" y="2286000"/>
            <a:ext cx="4572000" cy="2286000"/>
          </a:xfrm>
          <a:prstGeom prst="rect">
            <a:avLst/>
          </a:prstGeom>
          <a:noFill/>
          <a:ln/>
        </p:spPr>
        <p:txBody>
          <a:bodyPr wrap="square" lIns="0" tIns="0" rIns="0" bIns="0" rtlCol="0" anchor="t"/>
          <a:lstStyle/>
          <a:p>
            <a:pPr indent="0" marL="0">
              <a:buNone/>
            </a:pPr>
            <a:r>
              <a:rPr lang="en-US" sz="1300" dirty="0">
                <a:solidFill>
                  <a:srgbClr val="12181F"/>
                </a:solidFill>
                <a:latin typeface="Calibri" pitchFamily="34" charset="0"/>
                <a:ea typeface="Calibri" pitchFamily="34" charset="-122"/>
                <a:cs typeface="Calibri" pitchFamily="34" charset="-120"/>
              </a:rPr>
              <a:t>Que falten unas horas sueltas es normal en un equipo real y no justifica botar toda la corrida.</a:t>
            </a:r>
            <a:endParaRPr lang="en-US" sz="1300" dirty="0"/>
          </a:p>
          <a:p>
            <a:pPr indent="0" marL="0">
              <a:buNone/>
            </a:pPr>
            <a:endParaRPr lang="en-US" sz="1300" dirty="0"/>
          </a:p>
          <a:p>
            <a:pPr indent="0" marL="0">
              <a:buNone/>
            </a:pPr>
            <a:r>
              <a:rPr lang="en-US" sz="1300" dirty="0">
                <a:solidFill>
                  <a:srgbClr val="12181F"/>
                </a:solidFill>
                <a:latin typeface="Calibri" pitchFamily="34" charset="0"/>
                <a:ea typeface="Calibri" pitchFamily="34" charset="-122"/>
                <a:cs typeface="Calibri" pitchFamily="34" charset="-120"/>
              </a:rPr>
              <a:t>Que aparezca una columna que no existía, sí: a partir de ahí nada de lo que se calcule significa lo mismo.</a:t>
            </a:r>
            <a:endParaRPr lang="en-US" sz="1300" dirty="0"/>
          </a:p>
          <a:p>
            <a:pPr indent="0" marL="0">
              <a:buNone/>
            </a:pPr>
            <a:endParaRPr lang="en-US" sz="1300" dirty="0"/>
          </a:p>
          <a:p>
            <a:pPr indent="0" marL="0">
              <a:buNone/>
            </a:pPr>
            <a:r>
              <a:rPr lang="en-US" sz="1300" dirty="0">
                <a:solidFill>
                  <a:srgbClr val="12181F"/>
                </a:solidFill>
                <a:latin typeface="Calibri" pitchFamily="34" charset="0"/>
                <a:ea typeface="Calibri" pitchFamily="34" charset="-122"/>
                <a:cs typeface="Calibri" pitchFamily="34" charset="-120"/>
              </a:rPr>
              <a:t>Si todas las reglas detuvieran el pipeline, la gente terminaría desactivándolas. Y unas reglas apagadas no sirven de nada.</a:t>
            </a:r>
            <a:endParaRPr lang="en-US" sz="1300" dirty="0"/>
          </a:p>
        </p:txBody>
      </p:sp>
      <p:sp>
        <p:nvSpPr>
          <p:cNvPr id="14" name="Text 12"/>
          <p:cNvSpPr/>
          <p:nvPr/>
        </p:nvSpPr>
        <p:spPr>
          <a:xfrm>
            <a:off x="6784848" y="4526280"/>
            <a:ext cx="4572000" cy="310896"/>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Corren dos veces, y no es repetición</a:t>
            </a:r>
            <a:endParaRPr lang="en-US" sz="1400" dirty="0"/>
          </a:p>
        </p:txBody>
      </p:sp>
      <p:sp>
        <p:nvSpPr>
          <p:cNvPr id="15" name="Text 13"/>
          <p:cNvSpPr/>
          <p:nvPr/>
        </p:nvSpPr>
        <p:spPr>
          <a:xfrm>
            <a:off x="6784848" y="4919472"/>
            <a:ext cx="4572000" cy="914400"/>
          </a:xfrm>
          <a:prstGeom prst="rect">
            <a:avLst/>
          </a:prstGeom>
          <a:noFill/>
          <a:ln/>
        </p:spPr>
        <p:txBody>
          <a:bodyPr wrap="square" lIns="0" tIns="0" rIns="0" bIns="0" rtlCol="0" anchor="t"/>
          <a:lstStyle/>
          <a:p>
            <a:pPr indent="0" marL="0">
              <a:buNone/>
            </a:pPr>
            <a:r>
              <a:rPr lang="en-US" sz="1300" dirty="0">
                <a:solidFill>
                  <a:srgbClr val="12181F"/>
                </a:solidFill>
                <a:latin typeface="Calibri" pitchFamily="34" charset="0"/>
                <a:ea typeface="Calibri" pitchFamily="34" charset="-122"/>
                <a:cs typeface="Calibri" pitchFamily="34" charset="-120"/>
              </a:rPr>
              <a:t>A la entrada, sobre los datos crudos. Y a la salida, sobre los ya limpios. La segunda pasada es la que comprueba que la limpieza no rompió nada.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EB6834"/>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La decisión de la que estamos más conformes</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AFC0D4"/>
                </a:solidFill>
                <a:latin typeface="Calibri" pitchFamily="34" charset="0"/>
                <a:ea typeface="Calibri" pitchFamily="34" charset="-122"/>
                <a:cs typeface="Calibri" pitchFamily="34" charset="-120"/>
              </a:rPr>
              <a:t>El anti-leakage no está en un comentario: está programado</a:t>
            </a:r>
            <a:endParaRPr lang="en-US" sz="1400" dirty="0"/>
          </a:p>
        </p:txBody>
      </p:sp>
      <p:sp>
        <p:nvSpPr>
          <p:cNvPr id="6" name="Text 4"/>
          <p:cNvSpPr/>
          <p:nvPr/>
        </p:nvSpPr>
        <p:spPr>
          <a:xfrm>
            <a:off x="566928" y="1691640"/>
            <a:ext cx="5394960" cy="23774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Todos los rezagos se miden desde la hora que se quiere predecir, no desde ahora.</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Para predecir t+24, el dato más reciente que existe es el de la hora t, que respecto de t+24 es un rezago de 24 horas.</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Un rezago de 1 hora usaría el dato de t+23, que todavía no ocurrió.</a:t>
            </a:r>
            <a:endParaRPr lang="en-US" sz="1400" dirty="0"/>
          </a:p>
        </p:txBody>
      </p:sp>
      <p:sp>
        <p:nvSpPr>
          <p:cNvPr id="7" name="Text 5"/>
          <p:cNvSpPr/>
          <p:nvPr/>
        </p:nvSpPr>
        <p:spPr>
          <a:xfrm>
            <a:off x="566928" y="3977640"/>
            <a:ext cx="5394960" cy="822960"/>
          </a:xfrm>
          <a:prstGeom prst="rect">
            <a:avLst/>
          </a:prstGeom>
          <a:noFill/>
          <a:ln/>
        </p:spPr>
        <p:txBody>
          <a:bodyPr wrap="square" lIns="0" tIns="0" rIns="0" bIns="0" rtlCol="0" anchor="t"/>
          <a:lstStyle/>
          <a:p>
            <a:pPr indent="0" marL="0">
              <a:buNone/>
            </a:pPr>
            <a:r>
              <a:rPr lang="en-US" sz="1350" i="1" dirty="0">
                <a:solidFill>
                  <a:srgbClr val="EB6834"/>
                </a:solidFill>
                <a:latin typeface="Calibri" pitchFamily="34" charset="0"/>
                <a:ea typeface="Calibri" pitchFamily="34" charset="-122"/>
                <a:cs typeface="Calibri" pitchFamily="34" charset="-120"/>
              </a:rPr>
              <a:t>Los comentarios no detienen a nadie. Por eso el proceso se cae solo si alguien pide un rezago menor que el horizonte.</a:t>
            </a:r>
            <a:endParaRPr lang="en-US" sz="1350" dirty="0"/>
          </a:p>
        </p:txBody>
      </p:sp>
      <p:sp>
        <p:nvSpPr>
          <p:cNvPr id="8" name="Shape 6"/>
          <p:cNvSpPr/>
          <p:nvPr/>
        </p:nvSpPr>
        <p:spPr>
          <a:xfrm>
            <a:off x="6355080" y="1691640"/>
            <a:ext cx="5257800" cy="2697480"/>
          </a:xfrm>
          <a:prstGeom prst="roundRect">
            <a:avLst>
              <a:gd name="adj" fmla="val 2712"/>
            </a:avLst>
          </a:prstGeom>
          <a:solidFill>
            <a:srgbClr val="16273D"/>
          </a:solidFill>
          <a:ln w="12700">
            <a:solidFill>
              <a:srgbClr val="16273D"/>
            </a:solidFill>
            <a:prstDash val="solid"/>
          </a:ln>
        </p:spPr>
      </p:sp>
      <p:sp>
        <p:nvSpPr>
          <p:cNvPr id="9" name="Text 7"/>
          <p:cNvSpPr/>
          <p:nvPr/>
        </p:nvSpPr>
        <p:spPr>
          <a:xfrm>
            <a:off x="6629400" y="1920240"/>
            <a:ext cx="4754880" cy="2743200"/>
          </a:xfrm>
          <a:prstGeom prst="rect">
            <a:avLst/>
          </a:prstGeom>
          <a:noFill/>
          <a:ln/>
        </p:spPr>
        <p:txBody>
          <a:bodyPr wrap="square" lIns="0" tIns="0" rIns="0" bIns="0" rtlCol="0" anchor="t"/>
          <a:lstStyle/>
          <a:p>
            <a:pPr indent="0" marL="0">
              <a:lnSpc>
                <a:spcPts val="2000"/>
              </a:lnSpc>
              <a:buNone/>
            </a:pPr>
            <a:r>
              <a:rPr lang="en-US" sz="1250" dirty="0">
                <a:solidFill>
                  <a:srgbClr val="9EE8C8"/>
                </a:solidFill>
                <a:latin typeface="Courier New" pitchFamily="34" charset="0"/>
                <a:ea typeface="Courier New" pitchFamily="34" charset="-122"/>
                <a:cs typeface="Courier New" pitchFamily="34" charset="-120"/>
              </a:rPr>
              <a:t>def _validar_rezago(rezago, horizonte):</a:t>
            </a:r>
            <a:endParaRPr lang="en-US" sz="1250" dirty="0"/>
          </a:p>
          <a:p>
            <a:pPr indent="0" marL="0">
              <a:lnSpc>
                <a:spcPts val="2000"/>
              </a:lnSpc>
              <a:buNone/>
            </a:pPr>
            <a:r>
              <a:rPr lang="en-US" sz="1250" dirty="0">
                <a:solidFill>
                  <a:srgbClr val="9EE8C8"/>
                </a:solidFill>
                <a:latin typeface="Courier New" pitchFamily="34" charset="0"/>
                <a:ea typeface="Courier New" pitchFamily="34" charset="-122"/>
                <a:cs typeface="Courier New" pitchFamily="34" charset="-120"/>
              </a:rPr>
              <a:t>    if rezago &lt; horizonte:</a:t>
            </a:r>
            <a:endParaRPr lang="en-US" sz="1250" dirty="0"/>
          </a:p>
          <a:p>
            <a:pPr indent="0" marL="0">
              <a:lnSpc>
                <a:spcPts val="2000"/>
              </a:lnSpc>
              <a:buNone/>
            </a:pPr>
            <a:r>
              <a:rPr lang="en-US" sz="1250" dirty="0">
                <a:solidFill>
                  <a:srgbClr val="9EE8C8"/>
                </a:solidFill>
                <a:latin typeface="Courier New" pitchFamily="34" charset="0"/>
                <a:ea typeface="Courier New" pitchFamily="34" charset="-122"/>
                <a:cs typeface="Courier New" pitchFamily="34" charset="-120"/>
              </a:rPr>
              <a:t>        raise ErrorDeLeakage(</a:t>
            </a:r>
            <a:endParaRPr lang="en-US" sz="1250" dirty="0"/>
          </a:p>
          <a:p>
            <a:pPr indent="0" marL="0">
              <a:lnSpc>
                <a:spcPts val="2000"/>
              </a:lnSpc>
              <a:buNone/>
            </a:pPr>
            <a:r>
              <a:rPr lang="en-US" sz="1250" dirty="0">
                <a:solidFill>
                  <a:srgbClr val="9EE8C8"/>
                </a:solidFill>
                <a:latin typeface="Courier New" pitchFamily="34" charset="0"/>
                <a:ea typeface="Courier New" pitchFamily="34" charset="-122"/>
                <a:cs typeface="Courier New" pitchFamily="34" charset="-120"/>
              </a:rPr>
              <a:t>            f"Se pidio un rezago de "</a:t>
            </a:r>
            <a:endParaRPr lang="en-US" sz="1250" dirty="0"/>
          </a:p>
          <a:p>
            <a:pPr indent="0" marL="0">
              <a:lnSpc>
                <a:spcPts val="2000"/>
              </a:lnSpc>
              <a:buNone/>
            </a:pPr>
            <a:r>
              <a:rPr lang="en-US" sz="1250" dirty="0">
                <a:solidFill>
                  <a:srgbClr val="9EE8C8"/>
                </a:solidFill>
                <a:latin typeface="Courier New" pitchFamily="34" charset="0"/>
                <a:ea typeface="Courier New" pitchFamily="34" charset="-122"/>
                <a:cs typeface="Courier New" pitchFamily="34" charset="-120"/>
              </a:rPr>
              <a:t>            f"{rezago} h con un horizonte "</a:t>
            </a:r>
            <a:endParaRPr lang="en-US" sz="1250" dirty="0"/>
          </a:p>
          <a:p>
            <a:pPr indent="0" marL="0">
              <a:lnSpc>
                <a:spcPts val="2000"/>
              </a:lnSpc>
              <a:buNone/>
            </a:pPr>
            <a:r>
              <a:rPr lang="en-US" sz="1250" dirty="0">
                <a:solidFill>
                  <a:srgbClr val="9EE8C8"/>
                </a:solidFill>
                <a:latin typeface="Courier New" pitchFamily="34" charset="0"/>
                <a:ea typeface="Courier New" pitchFamily="34" charset="-122"/>
                <a:cs typeface="Courier New" pitchFamily="34" charset="-120"/>
              </a:rPr>
              <a:t>            f"de {horizonte} h. ...")</a:t>
            </a:r>
            <a:endParaRPr lang="en-US" sz="1250" dirty="0"/>
          </a:p>
        </p:txBody>
      </p:sp>
      <p:sp>
        <p:nvSpPr>
          <p:cNvPr id="10" name="Text 8"/>
          <p:cNvSpPr/>
          <p:nvPr/>
        </p:nvSpPr>
        <p:spPr>
          <a:xfrm>
            <a:off x="6355080" y="4572000"/>
            <a:ext cx="5257800" cy="822960"/>
          </a:xfrm>
          <a:prstGeom prst="rect">
            <a:avLst/>
          </a:prstGeom>
          <a:noFill/>
          <a:ln/>
        </p:spPr>
        <p:txBody>
          <a:bodyPr wrap="square" lIns="0" tIns="0" rIns="0" bIns="0" rtlCol="0" anchor="t"/>
          <a:lstStyle/>
          <a:p>
            <a:pPr indent="0" marL="0">
              <a:buNone/>
            </a:pPr>
            <a:r>
              <a:rPr lang="en-US" sz="1250" dirty="0">
                <a:solidFill>
                  <a:srgbClr val="AFC0D4"/>
                </a:solidFill>
                <a:latin typeface="Calibri" pitchFamily="34" charset="0"/>
                <a:ea typeface="Calibri" pitchFamily="34" charset="-122"/>
                <a:cs typeface="Calibri" pitchFamily="34" charset="-120"/>
              </a:rPr>
              <a:t>Excepción deliberada: las variables de calendario sí se calculan sobre la hora que se quiere predecir. Qué día va a ser mañana se sabe hoy.</a:t>
            </a:r>
            <a:endParaRPr lang="en-US" sz="1250" dirty="0"/>
          </a:p>
        </p:txBody>
      </p:sp>
      <p:sp>
        <p:nvSpPr>
          <p:cNvPr id="11" name="Shape 9"/>
          <p:cNvSpPr/>
          <p:nvPr/>
        </p:nvSpPr>
        <p:spPr>
          <a:xfrm>
            <a:off x="566928" y="5029200"/>
            <a:ext cx="11027664" cy="1234440"/>
          </a:xfrm>
          <a:prstGeom prst="roundRect">
            <a:avLst>
              <a:gd name="adj" fmla="val 5926"/>
            </a:avLst>
          </a:prstGeom>
          <a:solidFill>
            <a:srgbClr val="16273D"/>
          </a:solidFill>
          <a:ln w="12700">
            <a:solidFill>
              <a:srgbClr val="16273D"/>
            </a:solidFill>
            <a:prstDash val="solid"/>
          </a:ln>
        </p:spPr>
      </p:sp>
      <p:sp>
        <p:nvSpPr>
          <p:cNvPr id="12" name="Text 10"/>
          <p:cNvSpPr/>
          <p:nvPr/>
        </p:nvSpPr>
        <p:spPr>
          <a:xfrm>
            <a:off x="859536" y="5029200"/>
            <a:ext cx="10424160" cy="12344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El caso extremo: PT08.S2(NMHC) correlaciona 0.982 con el benceno. Usarlo sin rezagar daría métricas espectaculares y un modelo inútil, porque esa lectura no existe hasta que llega la hora. Una métrica muy buena puede ser una señal de alarma.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Cuatro modelos, y cómo se escogió</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No gana el mejor: gana el que cumple los tres criterios fijados de antemano</a:t>
            </a:r>
            <a:endParaRPr lang="en-US" sz="1400" dirty="0"/>
          </a:p>
        </p:txBody>
      </p:sp>
      <p:graphicFrame>
        <p:nvGraphicFramePr>
          <p:cNvPr id="6" name="Chart 0" descr=""/>
          <p:cNvGraphicFramePr/>
          <p:nvPr/>
        </p:nvGraphicFramePr>
        <p:xfrm>
          <a:off x="566928" y="1645920"/>
          <a:ext cx="5852160" cy="3200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 y="5029200"/>
            <a:ext cx="5852160" cy="1051560"/>
          </a:xfrm>
          <a:prstGeom prst="roundRect">
            <a:avLst>
              <a:gd name="adj" fmla="val 6957"/>
            </a:avLst>
          </a:prstGeom>
          <a:solidFill>
            <a:srgbClr val="F4F6F9"/>
          </a:solidFill>
          <a:ln w="12700">
            <a:solidFill>
              <a:srgbClr val="E3E8EF"/>
            </a:solidFill>
            <a:prstDash val="solid"/>
          </a:ln>
        </p:spPr>
      </p:sp>
      <p:sp>
        <p:nvSpPr>
          <p:cNvPr id="8" name="Text 5"/>
          <p:cNvSpPr/>
          <p:nvPr/>
        </p:nvSpPr>
        <p:spPr>
          <a:xfrm>
            <a:off x="841248" y="5029200"/>
            <a:ext cx="5303520" cy="1051560"/>
          </a:xfrm>
          <a:prstGeom prst="rect">
            <a:avLst/>
          </a:prstGeom>
          <a:noFill/>
          <a:ln/>
        </p:spPr>
        <p:txBody>
          <a:bodyPr wrap="square" lIns="0" tIns="0" rIns="0" bIns="0" rtlCol="0" anchor="ctr"/>
          <a:lstStyle/>
          <a:p>
            <a:pPr indent="0" marL="0">
              <a:buNone/>
            </a:pPr>
            <a:r>
              <a:rPr lang="en-US" sz="1250" dirty="0">
                <a:solidFill>
                  <a:srgbClr val="12181F"/>
                </a:solidFill>
                <a:latin typeface="Calibri" pitchFamily="34" charset="0"/>
                <a:ea typeface="Calibri" pitchFamily="34" charset="-122"/>
                <a:cs typeface="Calibri" pitchFamily="34" charset="-120"/>
              </a:rPr>
              <a:t>El baseline es repetir el valor de ayer a la misma hora. Si un modelo complicado apenas le empata, no compensa mantenerlo en producción.</a:t>
            </a:r>
            <a:endParaRPr lang="en-US" sz="1250" dirty="0"/>
          </a:p>
        </p:txBody>
      </p:sp>
      <p:sp>
        <p:nvSpPr>
          <p:cNvPr id="9" name="Text 6"/>
          <p:cNvSpPr/>
          <p:nvPr/>
        </p:nvSpPr>
        <p:spPr>
          <a:xfrm>
            <a:off x="6858000" y="1874520"/>
            <a:ext cx="4754880" cy="310896"/>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Los tres criterios, fijados antes de ver resultados</a:t>
            </a:r>
            <a:endParaRPr lang="en-US" sz="1400" dirty="0"/>
          </a:p>
        </p:txBody>
      </p:sp>
      <p:sp>
        <p:nvSpPr>
          <p:cNvPr id="10" name="Text 7"/>
          <p:cNvSpPr/>
          <p:nvPr/>
        </p:nvSpPr>
        <p:spPr>
          <a:xfrm>
            <a:off x="6858000" y="2286000"/>
            <a:ext cx="475488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2181F"/>
                </a:solidFill>
                <a:latin typeface="Calibri" pitchFamily="34" charset="0"/>
                <a:ea typeface="Calibri" pitchFamily="34" charset="-122"/>
                <a:cs typeface="Calibri" pitchFamily="34" charset="-120"/>
              </a:rPr>
              <a:t>Ganarle al baseline por al menos 10% de MAE</a:t>
            </a:r>
            <a:endParaRPr lang="en-US" sz="1300" dirty="0"/>
          </a:p>
          <a:p>
            <a:pPr marL="342900" indent="-342900">
              <a:spcAft>
                <a:spcPts val="600"/>
              </a:spcAft>
              <a:buSzPct val="100000"/>
              <a:buChar char="•"/>
            </a:pPr>
            <a:r>
              <a:rPr lang="en-US" sz="1300" dirty="0">
                <a:solidFill>
                  <a:srgbClr val="12181F"/>
                </a:solidFill>
                <a:latin typeface="Calibri" pitchFamily="34" charset="0"/>
                <a:ea typeface="Calibri" pitchFamily="34" charset="-122"/>
                <a:cs typeface="Calibri" pitchFamily="34" charset="-120"/>
              </a:rPr>
              <a:t>Que validación no sea más de 60% peor que entrenamiento</a:t>
            </a:r>
            <a:endParaRPr lang="en-US" sz="1300" dirty="0"/>
          </a:p>
          <a:p>
            <a:pPr marL="342900" indent="-342900">
              <a:spcAft>
                <a:spcPts val="600"/>
              </a:spcAft>
              <a:buSzPct val="100000"/>
              <a:buChar char="•"/>
            </a:pPr>
            <a:r>
              <a:rPr lang="en-US" sz="1300" dirty="0">
                <a:solidFill>
                  <a:srgbClr val="12181F"/>
                </a:solidFill>
                <a:latin typeface="Calibri" pitchFamily="34" charset="0"/>
                <a:ea typeface="Calibri" pitchFamily="34" charset="-122"/>
                <a:cs typeface="Calibri" pitchFamily="34" charset="-120"/>
              </a:rPr>
              <a:t>Que el MAE no pase de 5.0 µg/m³</a:t>
            </a:r>
            <a:endParaRPr lang="en-US" sz="1300" dirty="0"/>
          </a:p>
        </p:txBody>
      </p:sp>
      <p:sp>
        <p:nvSpPr>
          <p:cNvPr id="11" name="Shape 8"/>
          <p:cNvSpPr/>
          <p:nvPr/>
        </p:nvSpPr>
        <p:spPr>
          <a:xfrm>
            <a:off x="6858000" y="3566160"/>
            <a:ext cx="4754880" cy="2514600"/>
          </a:xfrm>
          <a:prstGeom prst="roundRect">
            <a:avLst>
              <a:gd name="adj" fmla="val 2909"/>
            </a:avLst>
          </a:prstGeom>
          <a:solidFill>
            <a:srgbClr val="F4F6F9"/>
          </a:solidFill>
          <a:ln w="12700">
            <a:solidFill>
              <a:srgbClr val="E3E8EF"/>
            </a:solidFill>
            <a:prstDash val="solid"/>
          </a:ln>
        </p:spPr>
      </p:sp>
      <p:sp>
        <p:nvSpPr>
          <p:cNvPr id="12" name="Text 9"/>
          <p:cNvSpPr/>
          <p:nvPr/>
        </p:nvSpPr>
        <p:spPr>
          <a:xfrm>
            <a:off x="7132320" y="3730752"/>
            <a:ext cx="4206240" cy="310896"/>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El criterio funcionó solo</a:t>
            </a:r>
            <a:endParaRPr lang="en-US" sz="1400" dirty="0"/>
          </a:p>
        </p:txBody>
      </p:sp>
      <p:sp>
        <p:nvSpPr>
          <p:cNvPr id="13" name="Text 10"/>
          <p:cNvSpPr/>
          <p:nvPr/>
        </p:nvSpPr>
        <p:spPr>
          <a:xfrm>
            <a:off x="7132320" y="4133088"/>
            <a:ext cx="4206240" cy="182880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random_forest quedó RECHAZADO aunque su MAE era mejor que el de ridge: se degradaba 68.4% de entrenamiento a validación. Se había aprendido el ruido.</a:t>
            </a:r>
            <a:endParaRPr lang="en-US" sz="1250" dirty="0"/>
          </a:p>
          <a:p>
            <a:pPr indent="0" marL="0">
              <a:buNone/>
            </a:pPr>
            <a:endParaRPr lang="en-US" sz="1250" dirty="0"/>
          </a:p>
          <a:p>
            <a:pPr indent="0" marL="0">
              <a:buNone/>
            </a:pPr>
            <a:r>
              <a:rPr lang="en-US" sz="1250" dirty="0">
                <a:solidFill>
                  <a:srgbClr val="12181F"/>
                </a:solidFill>
                <a:latin typeface="Calibri" pitchFamily="34" charset="0"/>
                <a:ea typeface="Calibri" pitchFamily="34" charset="-122"/>
                <a:cs typeface="Calibri" pitchFamily="34" charset="-120"/>
              </a:rPr>
              <a:t>Gana gradient_boosting con 2.905 µg/m³ y 27.8% menos error que el baseline.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Trazabilidad con MLflow</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Experimento air-quality-benceno-24h · modelo grupo8-benceno-24h</a:t>
            </a:r>
            <a:endParaRPr lang="en-US" sz="1400" dirty="0"/>
          </a:p>
        </p:txBody>
      </p:sp>
      <p:sp>
        <p:nvSpPr>
          <p:cNvPr id="6" name="Shape 4"/>
          <p:cNvSpPr/>
          <p:nvPr/>
        </p:nvSpPr>
        <p:spPr>
          <a:xfrm>
            <a:off x="566928" y="1691640"/>
            <a:ext cx="2551176" cy="1600200"/>
          </a:xfrm>
          <a:prstGeom prst="roundRect">
            <a:avLst>
              <a:gd name="adj" fmla="val 4571"/>
            </a:avLst>
          </a:prstGeom>
          <a:solidFill>
            <a:srgbClr val="F4F6F9"/>
          </a:solidFill>
          <a:ln w="12700">
            <a:solidFill>
              <a:srgbClr val="E3E8EF"/>
            </a:solidFill>
            <a:prstDash val="solid"/>
          </a:ln>
        </p:spPr>
      </p:sp>
      <p:sp>
        <p:nvSpPr>
          <p:cNvPr id="7" name="Text 5"/>
          <p:cNvSpPr/>
          <p:nvPr/>
        </p:nvSpPr>
        <p:spPr>
          <a:xfrm>
            <a:off x="566928" y="1828800"/>
            <a:ext cx="2551176" cy="658368"/>
          </a:xfrm>
          <a:prstGeom prst="rect">
            <a:avLst/>
          </a:prstGeom>
          <a:noFill/>
          <a:ln/>
        </p:spPr>
        <p:txBody>
          <a:bodyPr wrap="square" lIns="0" tIns="0" rIns="0" bIns="0" rtlCol="0" anchor="ctr"/>
          <a:lstStyle/>
          <a:p>
            <a:pPr algn="ctr" indent="0" marL="0">
              <a:buNone/>
            </a:pPr>
            <a:r>
              <a:rPr lang="en-US" sz="3800" b="1" dirty="0">
                <a:solidFill>
                  <a:srgbClr val="2A78D6"/>
                </a:solidFill>
                <a:latin typeface="Cambria" pitchFamily="34" charset="0"/>
                <a:ea typeface="Cambria" pitchFamily="34" charset="-122"/>
                <a:cs typeface="Cambria" pitchFamily="34" charset="-120"/>
              </a:rPr>
              <a:t>15</a:t>
            </a:r>
            <a:endParaRPr lang="en-US" sz="3800" dirty="0"/>
          </a:p>
        </p:txBody>
      </p:sp>
      <p:sp>
        <p:nvSpPr>
          <p:cNvPr id="8" name="Text 6"/>
          <p:cNvSpPr/>
          <p:nvPr/>
        </p:nvSpPr>
        <p:spPr>
          <a:xfrm>
            <a:off x="566928" y="2487168"/>
            <a:ext cx="2551176"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parámetros por corrida</a:t>
            </a:r>
            <a:endParaRPr lang="en-US" sz="1100" dirty="0"/>
          </a:p>
        </p:txBody>
      </p:sp>
      <p:sp>
        <p:nvSpPr>
          <p:cNvPr id="9" name="Shape 7"/>
          <p:cNvSpPr/>
          <p:nvPr/>
        </p:nvSpPr>
        <p:spPr>
          <a:xfrm>
            <a:off x="3392424" y="1691640"/>
            <a:ext cx="2551176" cy="1600200"/>
          </a:xfrm>
          <a:prstGeom prst="roundRect">
            <a:avLst>
              <a:gd name="adj" fmla="val 4571"/>
            </a:avLst>
          </a:prstGeom>
          <a:solidFill>
            <a:srgbClr val="F4F6F9"/>
          </a:solidFill>
          <a:ln w="12700">
            <a:solidFill>
              <a:srgbClr val="E3E8EF"/>
            </a:solidFill>
            <a:prstDash val="solid"/>
          </a:ln>
        </p:spPr>
      </p:sp>
      <p:sp>
        <p:nvSpPr>
          <p:cNvPr id="10" name="Text 8"/>
          <p:cNvSpPr/>
          <p:nvPr/>
        </p:nvSpPr>
        <p:spPr>
          <a:xfrm>
            <a:off x="3392424" y="1828800"/>
            <a:ext cx="2551176" cy="658368"/>
          </a:xfrm>
          <a:prstGeom prst="rect">
            <a:avLst/>
          </a:prstGeom>
          <a:noFill/>
          <a:ln/>
        </p:spPr>
        <p:txBody>
          <a:bodyPr wrap="square" lIns="0" tIns="0" rIns="0" bIns="0" rtlCol="0" anchor="ctr"/>
          <a:lstStyle/>
          <a:p>
            <a:pPr algn="ctr" indent="0" marL="0">
              <a:buNone/>
            </a:pPr>
            <a:r>
              <a:rPr lang="en-US" sz="3800" b="1" dirty="0">
                <a:solidFill>
                  <a:srgbClr val="2A78D6"/>
                </a:solidFill>
                <a:latin typeface="Cambria" pitchFamily="34" charset="0"/>
                <a:ea typeface="Cambria" pitchFamily="34" charset="-122"/>
                <a:cs typeface="Cambria" pitchFamily="34" charset="-120"/>
              </a:rPr>
              <a:t>42</a:t>
            </a:r>
            <a:endParaRPr lang="en-US" sz="3800" dirty="0"/>
          </a:p>
        </p:txBody>
      </p:sp>
      <p:sp>
        <p:nvSpPr>
          <p:cNvPr id="11" name="Text 9"/>
          <p:cNvSpPr/>
          <p:nvPr/>
        </p:nvSpPr>
        <p:spPr>
          <a:xfrm>
            <a:off x="3392424" y="2487168"/>
            <a:ext cx="2551176"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métricas por corrida</a:t>
            </a:r>
            <a:endParaRPr lang="en-US" sz="1100" dirty="0"/>
          </a:p>
        </p:txBody>
      </p:sp>
      <p:sp>
        <p:nvSpPr>
          <p:cNvPr id="12" name="Shape 10"/>
          <p:cNvSpPr/>
          <p:nvPr/>
        </p:nvSpPr>
        <p:spPr>
          <a:xfrm>
            <a:off x="6217920" y="1691640"/>
            <a:ext cx="2551176" cy="1600200"/>
          </a:xfrm>
          <a:prstGeom prst="roundRect">
            <a:avLst>
              <a:gd name="adj" fmla="val 4571"/>
            </a:avLst>
          </a:prstGeom>
          <a:solidFill>
            <a:srgbClr val="F4F6F9"/>
          </a:solidFill>
          <a:ln w="12700">
            <a:solidFill>
              <a:srgbClr val="E3E8EF"/>
            </a:solidFill>
            <a:prstDash val="solid"/>
          </a:ln>
        </p:spPr>
      </p:sp>
      <p:sp>
        <p:nvSpPr>
          <p:cNvPr id="13" name="Text 11"/>
          <p:cNvSpPr/>
          <p:nvPr/>
        </p:nvSpPr>
        <p:spPr>
          <a:xfrm>
            <a:off x="6217920" y="1828800"/>
            <a:ext cx="2551176" cy="658368"/>
          </a:xfrm>
          <a:prstGeom prst="rect">
            <a:avLst/>
          </a:prstGeom>
          <a:noFill/>
          <a:ln/>
        </p:spPr>
        <p:txBody>
          <a:bodyPr wrap="square" lIns="0" tIns="0" rIns="0" bIns="0" rtlCol="0" anchor="ctr"/>
          <a:lstStyle/>
          <a:p>
            <a:pPr algn="ctr" indent="0" marL="0">
              <a:buNone/>
            </a:pPr>
            <a:r>
              <a:rPr lang="en-US" sz="3800" b="1" dirty="0">
                <a:solidFill>
                  <a:srgbClr val="1BAF7A"/>
                </a:solidFill>
                <a:latin typeface="Cambria" pitchFamily="34" charset="0"/>
                <a:ea typeface="Cambria" pitchFamily="34" charset="-122"/>
                <a:cs typeface="Cambria" pitchFamily="34" charset="-120"/>
              </a:rPr>
              <a:t>5</a:t>
            </a:r>
            <a:endParaRPr lang="en-US" sz="3800" dirty="0"/>
          </a:p>
        </p:txBody>
      </p:sp>
      <p:sp>
        <p:nvSpPr>
          <p:cNvPr id="14" name="Text 12"/>
          <p:cNvSpPr/>
          <p:nvPr/>
        </p:nvSpPr>
        <p:spPr>
          <a:xfrm>
            <a:off x="6217920" y="2487168"/>
            <a:ext cx="2551176"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artefactos por corrida</a:t>
            </a:r>
            <a:endParaRPr lang="en-US" sz="1100" dirty="0"/>
          </a:p>
        </p:txBody>
      </p:sp>
      <p:sp>
        <p:nvSpPr>
          <p:cNvPr id="15" name="Shape 13"/>
          <p:cNvSpPr/>
          <p:nvPr/>
        </p:nvSpPr>
        <p:spPr>
          <a:xfrm>
            <a:off x="9043416" y="1691640"/>
            <a:ext cx="2551176" cy="1600200"/>
          </a:xfrm>
          <a:prstGeom prst="roundRect">
            <a:avLst>
              <a:gd name="adj" fmla="val 4571"/>
            </a:avLst>
          </a:prstGeom>
          <a:solidFill>
            <a:srgbClr val="F4F6F9"/>
          </a:solidFill>
          <a:ln w="12700">
            <a:solidFill>
              <a:srgbClr val="E3E8EF"/>
            </a:solidFill>
            <a:prstDash val="solid"/>
          </a:ln>
        </p:spPr>
      </p:sp>
      <p:sp>
        <p:nvSpPr>
          <p:cNvPr id="16" name="Text 14"/>
          <p:cNvSpPr/>
          <p:nvPr/>
        </p:nvSpPr>
        <p:spPr>
          <a:xfrm>
            <a:off x="9043416" y="1828800"/>
            <a:ext cx="2551176" cy="658368"/>
          </a:xfrm>
          <a:prstGeom prst="rect">
            <a:avLst/>
          </a:prstGeom>
          <a:noFill/>
          <a:ln/>
        </p:spPr>
        <p:txBody>
          <a:bodyPr wrap="square" lIns="0" tIns="0" rIns="0" bIns="0" rtlCol="0" anchor="ctr"/>
          <a:lstStyle/>
          <a:p>
            <a:pPr algn="ctr" indent="0" marL="0">
              <a:buNone/>
            </a:pPr>
            <a:r>
              <a:rPr lang="en-US" sz="3800" b="1" dirty="0">
                <a:solidFill>
                  <a:srgbClr val="EB6834"/>
                </a:solidFill>
                <a:latin typeface="Cambria" pitchFamily="34" charset="0"/>
                <a:ea typeface="Cambria" pitchFamily="34" charset="-122"/>
                <a:cs typeface="Cambria" pitchFamily="34" charset="-120"/>
              </a:rPr>
              <a:t>2</a:t>
            </a:r>
            <a:endParaRPr lang="en-US" sz="3800" dirty="0"/>
          </a:p>
        </p:txBody>
      </p:sp>
      <p:sp>
        <p:nvSpPr>
          <p:cNvPr id="17" name="Text 15"/>
          <p:cNvSpPr/>
          <p:nvPr/>
        </p:nvSpPr>
        <p:spPr>
          <a:xfrm>
            <a:off x="9043416" y="2487168"/>
            <a:ext cx="2551176"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versiones registradas</a:t>
            </a:r>
            <a:endParaRPr lang="en-US" sz="1100" dirty="0"/>
          </a:p>
        </p:txBody>
      </p:sp>
      <p:sp>
        <p:nvSpPr>
          <p:cNvPr id="18" name="Shape 16"/>
          <p:cNvSpPr/>
          <p:nvPr/>
        </p:nvSpPr>
        <p:spPr>
          <a:xfrm>
            <a:off x="566928" y="3520440"/>
            <a:ext cx="5376672" cy="2834640"/>
          </a:xfrm>
          <a:prstGeom prst="roundRect">
            <a:avLst>
              <a:gd name="adj" fmla="val 2581"/>
            </a:avLst>
          </a:prstGeom>
          <a:solidFill>
            <a:srgbClr val="F4F6F9"/>
          </a:solidFill>
          <a:ln w="12700">
            <a:solidFill>
              <a:srgbClr val="E3E8EF"/>
            </a:solidFill>
            <a:prstDash val="solid"/>
          </a:ln>
        </p:spPr>
      </p:sp>
      <p:sp>
        <p:nvSpPr>
          <p:cNvPr id="19" name="Text 17"/>
          <p:cNvSpPr/>
          <p:nvPr/>
        </p:nvSpPr>
        <p:spPr>
          <a:xfrm>
            <a:off x="859536" y="3703320"/>
            <a:ext cx="4846320" cy="310896"/>
          </a:xfrm>
          <a:prstGeom prst="rect">
            <a:avLst/>
          </a:prstGeom>
          <a:noFill/>
          <a:ln/>
        </p:spPr>
        <p:txBody>
          <a:bodyPr wrap="square" lIns="0" tIns="0" rIns="0" bIns="0" rtlCol="0" anchor="ctr"/>
          <a:lstStyle/>
          <a:p>
            <a:pPr indent="0" marL="0">
              <a:buNone/>
            </a:pPr>
            <a:r>
              <a:rPr lang="en-US" sz="1400" b="1" dirty="0">
                <a:solidFill>
                  <a:srgbClr val="1BAF7A"/>
                </a:solidFill>
                <a:latin typeface="Calibri" pitchFamily="34" charset="0"/>
                <a:ea typeface="Calibri" pitchFamily="34" charset="-122"/>
                <a:cs typeface="Calibri" pitchFamily="34" charset="-120"/>
              </a:rPr>
              <a:t>El ciclo de vida, con alias y no con stages</a:t>
            </a:r>
            <a:endParaRPr lang="en-US" sz="1400" dirty="0"/>
          </a:p>
        </p:txBody>
      </p:sp>
      <p:sp>
        <p:nvSpPr>
          <p:cNvPr id="20" name="Text 18"/>
          <p:cNvSpPr/>
          <p:nvPr/>
        </p:nvSpPr>
        <p:spPr>
          <a:xfrm>
            <a:off x="859536" y="4114800"/>
            <a:ext cx="4937760" cy="411480"/>
          </a:xfrm>
          <a:prstGeom prst="rect">
            <a:avLst/>
          </a:prstGeom>
          <a:noFill/>
          <a:ln/>
        </p:spPr>
        <p:txBody>
          <a:bodyPr wrap="square" lIns="0" tIns="0" rIns="0" bIns="0" rtlCol="0" anchor="ctr"/>
          <a:lstStyle/>
          <a:p>
            <a:pPr indent="0" marL="0">
              <a:buNone/>
            </a:pPr>
            <a:r>
              <a:rPr lang="en-US" sz="1400" b="1" dirty="0">
                <a:solidFill>
                  <a:srgbClr val="12181F"/>
                </a:solidFill>
                <a:latin typeface="Courier New" pitchFamily="34" charset="0"/>
                <a:ea typeface="Courier New" pitchFamily="34" charset="-122"/>
                <a:cs typeface="Courier New" pitchFamily="34" charset="-120"/>
              </a:rPr>
              <a:t>Experiment   →   candidato   →   produccion</a:t>
            </a:r>
            <a:endParaRPr lang="en-US" sz="1400" dirty="0"/>
          </a:p>
        </p:txBody>
      </p:sp>
      <p:sp>
        <p:nvSpPr>
          <p:cNvPr id="21" name="Text 19"/>
          <p:cNvSpPr/>
          <p:nvPr/>
        </p:nvSpPr>
        <p:spPr>
          <a:xfrm>
            <a:off x="859536" y="4617720"/>
            <a:ext cx="4937760" cy="164592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El entrenamiento registra la versión, le pone el alias candidato, comprueba los tres criterios y solo entonces mueve el alias produccion.</a:t>
            </a:r>
            <a:endParaRPr lang="en-US" sz="1250" dirty="0"/>
          </a:p>
          <a:p>
            <a:pPr indent="0" marL="0">
              <a:buNone/>
            </a:pPr>
            <a:endParaRPr lang="en-US" sz="1250" dirty="0"/>
          </a:p>
          <a:p>
            <a:pPr indent="0" marL="0">
              <a:buNone/>
            </a:pPr>
            <a:r>
              <a:rPr lang="en-US" sz="1250" dirty="0">
                <a:solidFill>
                  <a:srgbClr val="12181F"/>
                </a:solidFill>
                <a:latin typeface="Calibri" pitchFamily="34" charset="0"/>
                <a:ea typeface="Calibri" pitchFamily="34" charset="-122"/>
                <a:cs typeface="Calibri" pitchFamily="34" charset="-120"/>
              </a:rPr>
              <a:t>Usamos alias porque los stages quedaron obsoletos: lo avisa la propia interfaz de MLflow.</a:t>
            </a:r>
            <a:endParaRPr lang="en-US" sz="1250" dirty="0"/>
          </a:p>
        </p:txBody>
      </p:sp>
      <p:sp>
        <p:nvSpPr>
          <p:cNvPr id="22" name="Shape 20"/>
          <p:cNvSpPr/>
          <p:nvPr/>
        </p:nvSpPr>
        <p:spPr>
          <a:xfrm>
            <a:off x="6217920" y="3520440"/>
            <a:ext cx="5376672" cy="2834640"/>
          </a:xfrm>
          <a:prstGeom prst="roundRect">
            <a:avLst>
              <a:gd name="adj" fmla="val 2581"/>
            </a:avLst>
          </a:prstGeom>
          <a:solidFill>
            <a:srgbClr val="F4F6F9"/>
          </a:solidFill>
          <a:ln w="12700">
            <a:solidFill>
              <a:srgbClr val="E3E8EF"/>
            </a:solidFill>
            <a:prstDash val="solid"/>
          </a:ln>
        </p:spPr>
      </p:sp>
      <p:sp>
        <p:nvSpPr>
          <p:cNvPr id="23" name="Text 21"/>
          <p:cNvSpPr/>
          <p:nvPr/>
        </p:nvSpPr>
        <p:spPr>
          <a:xfrm>
            <a:off x="6510528" y="3703320"/>
            <a:ext cx="4791456" cy="310896"/>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Dos cosas que valen doble</a:t>
            </a:r>
            <a:endParaRPr lang="en-US" sz="1400" dirty="0"/>
          </a:p>
        </p:txBody>
      </p:sp>
      <p:sp>
        <p:nvSpPr>
          <p:cNvPr id="24" name="Text 22"/>
          <p:cNvSpPr/>
          <p:nvPr/>
        </p:nvSpPr>
        <p:spPr>
          <a:xfrm>
            <a:off x="6510528" y="4114800"/>
            <a:ext cx="4791456" cy="219456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Guardamos el md5 del archivo como parámetro data_version. Con eso, de cualquier modelo se sabe con qué datos exactos se entrenó.</a:t>
            </a:r>
            <a:endParaRPr lang="en-US" sz="1250" dirty="0"/>
          </a:p>
          <a:p>
            <a:pPr indent="0" marL="0">
              <a:buNone/>
            </a:pPr>
            <a:endParaRPr lang="en-US" sz="1250" dirty="0"/>
          </a:p>
          <a:p>
            <a:pPr indent="0" marL="0">
              <a:buNone/>
            </a:pPr>
            <a:r>
              <a:rPr lang="en-US" sz="1250" dirty="0">
                <a:solidFill>
                  <a:srgbClr val="12181F"/>
                </a:solidFill>
                <a:latin typeface="Calibri" pitchFamily="34" charset="0"/>
                <a:ea typeface="Calibri" pitchFamily="34" charset="-122"/>
                <a:cs typeface="Calibri" pitchFamily="34" charset="-120"/>
              </a:rPr>
              <a:t>Las dos versiones registradas tienen métricas idénticas hasta el último decimal: misma semilla, mismos cortes, mismo resultado. Eso es reproducibilidad demostrada, no prometida.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El servicio: API y contenedor</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Seis endpoints en FastAPI, dentro de una imagen reproducible</a:t>
            </a:r>
            <a:endParaRPr lang="en-US" sz="1400" dirty="0"/>
          </a:p>
        </p:txBody>
      </p:sp>
      <p:sp>
        <p:nvSpPr>
          <p:cNvPr id="6" name="Shape 4"/>
          <p:cNvSpPr/>
          <p:nvPr/>
        </p:nvSpPr>
        <p:spPr>
          <a:xfrm>
            <a:off x="566928" y="1691640"/>
            <a:ext cx="5486400" cy="2286000"/>
          </a:xfrm>
          <a:prstGeom prst="roundRect">
            <a:avLst>
              <a:gd name="adj" fmla="val 3200"/>
            </a:avLst>
          </a:prstGeom>
          <a:solidFill>
            <a:srgbClr val="F4F6F9"/>
          </a:solidFill>
          <a:ln w="12700">
            <a:solidFill>
              <a:srgbClr val="E3E8EF"/>
            </a:solidFill>
            <a:prstDash val="solid"/>
          </a:ln>
        </p:spPr>
      </p:sp>
      <p:sp>
        <p:nvSpPr>
          <p:cNvPr id="7" name="Text 5"/>
          <p:cNvSpPr/>
          <p:nvPr/>
        </p:nvSpPr>
        <p:spPr>
          <a:xfrm>
            <a:off x="859536" y="1874520"/>
            <a:ext cx="4937760" cy="310896"/>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La decisión importante de la API</a:t>
            </a:r>
            <a:endParaRPr lang="en-US" sz="1400" dirty="0"/>
          </a:p>
        </p:txBody>
      </p:sp>
      <p:sp>
        <p:nvSpPr>
          <p:cNvPr id="8" name="Text 6"/>
          <p:cNvSpPr/>
          <p:nvPr/>
        </p:nvSpPr>
        <p:spPr>
          <a:xfrm>
            <a:off x="859536" y="2286000"/>
            <a:ext cx="4937760" cy="164592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La entrada no son las 18 variables ya calculadas, sino las últimas 145 horas de mediciones. La API construye las variables por dentro llamando a la misma función que usó el entrenamiento.</a:t>
            </a:r>
            <a:endParaRPr lang="en-US" sz="1250" dirty="0"/>
          </a:p>
          <a:p>
            <a:pPr indent="0" marL="0">
              <a:buNone/>
            </a:pPr>
            <a:endParaRPr lang="en-US" sz="1250" dirty="0"/>
          </a:p>
          <a:p>
            <a:pPr indent="0" marL="0">
              <a:buNone/>
            </a:pPr>
            <a:r>
              <a:rPr lang="en-US" sz="1250" dirty="0">
                <a:solidFill>
                  <a:srgbClr val="12181F"/>
                </a:solidFill>
                <a:latin typeface="Calibri" pitchFamily="34" charset="0"/>
                <a:ea typeface="Calibri" pitchFamily="34" charset="-122"/>
                <a:cs typeface="Calibri" pitchFamily="34" charset="-120"/>
              </a:rPr>
              <a:t>Si las armara por su cuenta, cualquier diferencia pasaría desapercibida. Ese error tiene nombre: training-serving skew.</a:t>
            </a:r>
            <a:endParaRPr lang="en-US" sz="1250" dirty="0"/>
          </a:p>
        </p:txBody>
      </p:sp>
      <p:sp>
        <p:nvSpPr>
          <p:cNvPr id="9" name="Shape 7"/>
          <p:cNvSpPr/>
          <p:nvPr/>
        </p:nvSpPr>
        <p:spPr>
          <a:xfrm>
            <a:off x="566928" y="4160520"/>
            <a:ext cx="5486400" cy="2194560"/>
          </a:xfrm>
          <a:prstGeom prst="roundRect">
            <a:avLst>
              <a:gd name="adj" fmla="val 3333"/>
            </a:avLst>
          </a:prstGeom>
          <a:solidFill>
            <a:srgbClr val="F4F6F9"/>
          </a:solidFill>
          <a:ln w="12700">
            <a:solidFill>
              <a:srgbClr val="E3E8EF"/>
            </a:solidFill>
            <a:prstDash val="solid"/>
          </a:ln>
        </p:spPr>
      </p:sp>
      <p:sp>
        <p:nvSpPr>
          <p:cNvPr id="10" name="Text 8"/>
          <p:cNvSpPr/>
          <p:nvPr/>
        </p:nvSpPr>
        <p:spPr>
          <a:xfrm>
            <a:off x="859536" y="4315968"/>
            <a:ext cx="4937760" cy="292608"/>
          </a:xfrm>
          <a:prstGeom prst="rect">
            <a:avLst/>
          </a:prstGeom>
          <a:noFill/>
          <a:ln/>
        </p:spPr>
        <p:txBody>
          <a:bodyPr wrap="square" lIns="0" tIns="0" rIns="0" bIns="0" rtlCol="0" anchor="ctr"/>
          <a:lstStyle/>
          <a:p>
            <a:pPr indent="0" marL="0">
              <a:buNone/>
            </a:pPr>
            <a:r>
              <a:rPr lang="en-US" sz="1400" b="1" dirty="0">
                <a:solidFill>
                  <a:srgbClr val="1BAF7A"/>
                </a:solidFill>
                <a:latin typeface="Calibri" pitchFamily="34" charset="0"/>
                <a:ea typeface="Calibri" pitchFamily="34" charset="-122"/>
                <a:cs typeface="Calibri" pitchFamily="34" charset="-120"/>
              </a:rPr>
              <a:t>Los seis endpoints</a:t>
            </a:r>
            <a:endParaRPr lang="en-US" sz="1400" dirty="0"/>
          </a:p>
        </p:txBody>
      </p:sp>
      <p:sp>
        <p:nvSpPr>
          <p:cNvPr id="11" name="Text 9"/>
          <p:cNvSpPr/>
          <p:nvPr/>
        </p:nvSpPr>
        <p:spPr>
          <a:xfrm>
            <a:off x="859536" y="4681728"/>
            <a:ext cx="4937760" cy="1554480"/>
          </a:xfrm>
          <a:prstGeom prst="rect">
            <a:avLst/>
          </a:prstGeom>
          <a:noFill/>
          <a:ln/>
        </p:spPr>
        <p:txBody>
          <a:bodyPr wrap="square" lIns="0" tIns="0" rIns="0" bIns="0" rtlCol="0" anchor="ctr"/>
          <a:lstStyle/>
          <a:p>
            <a:pPr indent="0" marL="0">
              <a:lnSpc>
                <a:spcPts val="1600"/>
              </a:lnSpc>
              <a:buNone/>
            </a:pPr>
            <a:r>
              <a:rPr lang="en-US" sz="1050" dirty="0">
                <a:solidFill>
                  <a:srgbClr val="12181F"/>
                </a:solidFill>
                <a:latin typeface="Courier New" pitchFamily="34" charset="0"/>
                <a:ea typeface="Courier New" pitchFamily="34" charset="-122"/>
                <a:cs typeface="Courier New" pitchFamily="34" charset="-120"/>
              </a:rPr>
              <a:t>GET  /              información del servicio</a:t>
            </a:r>
            <a:endParaRPr lang="en-US" sz="1050" dirty="0"/>
          </a:p>
          <a:p>
            <a:pPr indent="0" marL="0">
              <a:lnSpc>
                <a:spcPts val="1600"/>
              </a:lnSpc>
              <a:buNone/>
            </a:pPr>
            <a:r>
              <a:rPr lang="en-US" sz="1050" dirty="0">
                <a:solidFill>
                  <a:srgbClr val="12181F"/>
                </a:solidFill>
                <a:latin typeface="Courier New" pitchFamily="34" charset="0"/>
                <a:ea typeface="Courier New" pitchFamily="34" charset="-122"/>
                <a:cs typeface="Courier New" pitchFamily="34" charset="-120"/>
              </a:rPr>
              <a:t>GET  /health        si está vivo y si el modelo cargó</a:t>
            </a:r>
            <a:endParaRPr lang="en-US" sz="1050" dirty="0"/>
          </a:p>
          <a:p>
            <a:pPr indent="0" marL="0">
              <a:lnSpc>
                <a:spcPts val="1600"/>
              </a:lnSpc>
              <a:buNone/>
            </a:pPr>
            <a:r>
              <a:rPr lang="en-US" sz="1050" dirty="0">
                <a:solidFill>
                  <a:srgbClr val="12181F"/>
                </a:solidFill>
                <a:latin typeface="Courier New" pitchFamily="34" charset="0"/>
                <a:ea typeface="Courier New" pitchFamily="34" charset="-122"/>
                <a:cs typeface="Courier New" pitchFamily="34" charset="-120"/>
              </a:rPr>
              <a:t>GET  /model-info    qué modelo y qué versión sirve</a:t>
            </a:r>
            <a:endParaRPr lang="en-US" sz="1050" dirty="0"/>
          </a:p>
          <a:p>
            <a:pPr indent="0" marL="0">
              <a:lnSpc>
                <a:spcPts val="1600"/>
              </a:lnSpc>
              <a:buNone/>
            </a:pPr>
            <a:r>
              <a:rPr lang="en-US" sz="1050" dirty="0">
                <a:solidFill>
                  <a:srgbClr val="12181F"/>
                </a:solidFill>
                <a:latin typeface="Courier New" pitchFamily="34" charset="0"/>
                <a:ea typeface="Courier New" pitchFamily="34" charset="-122"/>
                <a:cs typeface="Courier New" pitchFamily="34" charset="-120"/>
              </a:rPr>
              <a:t>GET  /metrics       latencia, errores, disponibilidad</a:t>
            </a:r>
            <a:endParaRPr lang="en-US" sz="1050" dirty="0"/>
          </a:p>
          <a:p>
            <a:pPr indent="0" marL="0">
              <a:lnSpc>
                <a:spcPts val="1600"/>
              </a:lnSpc>
              <a:buNone/>
            </a:pPr>
            <a:r>
              <a:rPr lang="en-US" sz="1050" dirty="0">
                <a:solidFill>
                  <a:srgbClr val="12181F"/>
                </a:solidFill>
                <a:latin typeface="Courier New" pitchFamily="34" charset="0"/>
                <a:ea typeface="Courier New" pitchFamily="34" charset="-122"/>
                <a:cs typeface="Courier New" pitchFamily="34" charset="-120"/>
              </a:rPr>
              <a:t>POST /predict       un pronóstico</a:t>
            </a:r>
            <a:endParaRPr lang="en-US" sz="1050" dirty="0"/>
          </a:p>
          <a:p>
            <a:pPr indent="0" marL="0">
              <a:lnSpc>
                <a:spcPts val="1600"/>
              </a:lnSpc>
              <a:buNone/>
            </a:pPr>
            <a:r>
              <a:rPr lang="en-US" sz="1050" dirty="0">
                <a:solidFill>
                  <a:srgbClr val="12181F"/>
                </a:solidFill>
                <a:latin typeface="Courier New" pitchFamily="34" charset="0"/>
                <a:ea typeface="Courier New" pitchFamily="34" charset="-122"/>
                <a:cs typeface="Courier New" pitchFamily="34" charset="-120"/>
              </a:rPr>
              <a:t>POST /predict/batch varios de una vez</a:t>
            </a:r>
            <a:endParaRPr lang="en-US" sz="1050" dirty="0"/>
          </a:p>
        </p:txBody>
      </p:sp>
      <p:sp>
        <p:nvSpPr>
          <p:cNvPr id="12" name="Text 10"/>
          <p:cNvSpPr/>
          <p:nvPr/>
        </p:nvSpPr>
        <p:spPr>
          <a:xfrm>
            <a:off x="6309360" y="1691640"/>
            <a:ext cx="5303520" cy="310896"/>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Las cuatro decisiones de la imagen</a:t>
            </a:r>
            <a:endParaRPr lang="en-US" sz="1400" dirty="0"/>
          </a:p>
        </p:txBody>
      </p:sp>
      <p:sp>
        <p:nvSpPr>
          <p:cNvPr id="13" name="Text 11"/>
          <p:cNvSpPr/>
          <p:nvPr/>
        </p:nvSpPr>
        <p:spPr>
          <a:xfrm>
            <a:off x="6309360" y="2103120"/>
            <a:ext cx="5303520"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2181F"/>
                </a:solidFill>
                <a:latin typeface="Calibri" pitchFamily="34" charset="0"/>
                <a:ea typeface="Calibri" pitchFamily="34" charset="-122"/>
                <a:cs typeface="Calibri" pitchFamily="34" charset="-120"/>
              </a:rPr>
              <a:t>Versión fija python:3.12-slim, nunca latest, para que la imagen no cambie sola</a:t>
            </a:r>
            <a:endParaRPr lang="en-US" sz="1250" dirty="0"/>
          </a:p>
          <a:p>
            <a:pPr marL="342900" indent="-342900">
              <a:spcAft>
                <a:spcPts val="600"/>
              </a:spcAft>
              <a:buSzPct val="100000"/>
              <a:buChar char="•"/>
            </a:pPr>
            <a:r>
              <a:rPr lang="en-US" sz="1250" dirty="0">
                <a:solidFill>
                  <a:srgbClr val="12181F"/>
                </a:solidFill>
                <a:latin typeface="Calibri" pitchFamily="34" charset="0"/>
                <a:ea typeface="Calibri" pitchFamily="34" charset="-122"/>
                <a:cs typeface="Calibri" pitchFamily="34" charset="-120"/>
              </a:rPr>
              <a:t>Los requisitos se copian antes que el código, para aprovechar la caché</a:t>
            </a:r>
            <a:endParaRPr lang="en-US" sz="1250" dirty="0"/>
          </a:p>
          <a:p>
            <a:pPr marL="342900" indent="-342900">
              <a:spcAft>
                <a:spcPts val="600"/>
              </a:spcAft>
              <a:buSzPct val="100000"/>
              <a:buChar char="•"/>
            </a:pPr>
            <a:r>
              <a:rPr lang="en-US" sz="1250" dirty="0">
                <a:solidFill>
                  <a:srgbClr val="12181F"/>
                </a:solidFill>
                <a:latin typeface="Calibri" pitchFamily="34" charset="0"/>
                <a:ea typeface="Calibri" pitchFamily="34" charset="-122"/>
                <a:cs typeface="Calibri" pitchFamily="34" charset="-120"/>
              </a:rPr>
              <a:t>Solo se instala lo que la API necesita, sin MLflow ni matplotlib</a:t>
            </a:r>
            <a:endParaRPr lang="en-US" sz="1250" dirty="0"/>
          </a:p>
          <a:p>
            <a:pPr marL="342900" indent="-342900">
              <a:spcAft>
                <a:spcPts val="600"/>
              </a:spcAft>
              <a:buSzPct val="100000"/>
              <a:buChar char="•"/>
            </a:pPr>
            <a:r>
              <a:rPr lang="en-US" sz="1250" dirty="0">
                <a:solidFill>
                  <a:srgbClr val="12181F"/>
                </a:solidFill>
                <a:latin typeface="Calibri" pitchFamily="34" charset="0"/>
                <a:ea typeface="Calibri" pitchFamily="34" charset="-122"/>
                <a:cs typeface="Calibri" pitchFamily="34" charset="-120"/>
              </a:rPr>
              <a:t>Corre con un usuario sin privilegios, no como root</a:t>
            </a:r>
            <a:endParaRPr lang="en-US" sz="1250" dirty="0"/>
          </a:p>
        </p:txBody>
      </p:sp>
      <p:sp>
        <p:nvSpPr>
          <p:cNvPr id="14" name="Shape 12"/>
          <p:cNvSpPr/>
          <p:nvPr/>
        </p:nvSpPr>
        <p:spPr>
          <a:xfrm>
            <a:off x="6309360" y="4160520"/>
            <a:ext cx="5303520" cy="2194560"/>
          </a:xfrm>
          <a:prstGeom prst="roundRect">
            <a:avLst>
              <a:gd name="adj" fmla="val 3333"/>
            </a:avLst>
          </a:prstGeom>
          <a:solidFill>
            <a:srgbClr val="F4F6F9"/>
          </a:solidFill>
          <a:ln w="12700">
            <a:solidFill>
              <a:srgbClr val="E3E8EF"/>
            </a:solidFill>
            <a:prstDash val="solid"/>
          </a:ln>
        </p:spPr>
      </p:sp>
      <p:sp>
        <p:nvSpPr>
          <p:cNvPr id="15" name="Text 13"/>
          <p:cNvSpPr/>
          <p:nvPr/>
        </p:nvSpPr>
        <p:spPr>
          <a:xfrm>
            <a:off x="6601968" y="4315968"/>
            <a:ext cx="4754880" cy="292608"/>
          </a:xfrm>
          <a:prstGeom prst="rect">
            <a:avLst/>
          </a:prstGeom>
          <a:noFill/>
          <a:ln/>
        </p:spPr>
        <p:txBody>
          <a:bodyPr wrap="square" lIns="0" tIns="0" rIns="0" bIns="0" rtlCol="0" anchor="ctr"/>
          <a:lstStyle/>
          <a:p>
            <a:pPr indent="0" marL="0">
              <a:buNone/>
            </a:pPr>
            <a:r>
              <a:rPr lang="en-US" sz="1300" b="1" dirty="0">
                <a:solidFill>
                  <a:srgbClr val="12181F"/>
                </a:solidFill>
                <a:latin typeface="Calibri" pitchFamily="34" charset="0"/>
                <a:ea typeface="Calibri" pitchFamily="34" charset="-122"/>
                <a:cs typeface="Calibri" pitchFamily="34" charset="-120"/>
              </a:rPr>
              <a:t>Lo medimos construyendo las dos imágenes</a:t>
            </a:r>
            <a:endParaRPr lang="en-US" sz="1300" dirty="0"/>
          </a:p>
        </p:txBody>
      </p:sp>
      <p:sp>
        <p:nvSpPr>
          <p:cNvPr id="16" name="Text 14"/>
          <p:cNvSpPr/>
          <p:nvPr/>
        </p:nvSpPr>
        <p:spPr>
          <a:xfrm>
            <a:off x="6492240" y="4709160"/>
            <a:ext cx="2377440" cy="658368"/>
          </a:xfrm>
          <a:prstGeom prst="rect">
            <a:avLst/>
          </a:prstGeom>
          <a:noFill/>
          <a:ln/>
        </p:spPr>
        <p:txBody>
          <a:bodyPr wrap="square" lIns="0" tIns="0" rIns="0" bIns="0" rtlCol="0" anchor="ctr"/>
          <a:lstStyle/>
          <a:p>
            <a:pPr algn="ctr" indent="0" marL="0">
              <a:buNone/>
            </a:pPr>
            <a:r>
              <a:rPr lang="en-US" sz="3800" b="1" dirty="0">
                <a:solidFill>
                  <a:srgbClr val="5C6570"/>
                </a:solidFill>
                <a:latin typeface="Cambria" pitchFamily="34" charset="0"/>
                <a:ea typeface="Cambria" pitchFamily="34" charset="-122"/>
                <a:cs typeface="Cambria" pitchFamily="34" charset="-120"/>
              </a:rPr>
              <a:t>1.33 GB</a:t>
            </a:r>
            <a:endParaRPr lang="en-US" sz="3800" dirty="0"/>
          </a:p>
        </p:txBody>
      </p:sp>
      <p:sp>
        <p:nvSpPr>
          <p:cNvPr id="17" name="Text 15"/>
          <p:cNvSpPr/>
          <p:nvPr/>
        </p:nvSpPr>
        <p:spPr>
          <a:xfrm>
            <a:off x="6492240" y="5367528"/>
            <a:ext cx="2377440"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con todo instalado</a:t>
            </a:r>
            <a:endParaRPr lang="en-US" sz="1100" dirty="0"/>
          </a:p>
        </p:txBody>
      </p:sp>
      <p:sp>
        <p:nvSpPr>
          <p:cNvPr id="18" name="Text 16"/>
          <p:cNvSpPr/>
          <p:nvPr/>
        </p:nvSpPr>
        <p:spPr>
          <a:xfrm>
            <a:off x="9006840" y="4709160"/>
            <a:ext cx="2377440" cy="658368"/>
          </a:xfrm>
          <a:prstGeom prst="rect">
            <a:avLst/>
          </a:prstGeom>
          <a:noFill/>
          <a:ln/>
        </p:spPr>
        <p:txBody>
          <a:bodyPr wrap="square" lIns="0" tIns="0" rIns="0" bIns="0" rtlCol="0" anchor="ctr"/>
          <a:lstStyle/>
          <a:p>
            <a:pPr algn="ctr" indent="0" marL="0">
              <a:buNone/>
            </a:pPr>
            <a:r>
              <a:rPr lang="en-US" sz="3800" b="1" dirty="0">
                <a:solidFill>
                  <a:srgbClr val="1BAF7A"/>
                </a:solidFill>
                <a:latin typeface="Cambria" pitchFamily="34" charset="0"/>
                <a:ea typeface="Cambria" pitchFamily="34" charset="-122"/>
                <a:cs typeface="Cambria" pitchFamily="34" charset="-120"/>
              </a:rPr>
              <a:t>865 MB</a:t>
            </a:r>
            <a:endParaRPr lang="en-US" sz="3800" dirty="0"/>
          </a:p>
        </p:txBody>
      </p:sp>
      <p:sp>
        <p:nvSpPr>
          <p:cNvPr id="19" name="Text 17"/>
          <p:cNvSpPr/>
          <p:nvPr/>
        </p:nvSpPr>
        <p:spPr>
          <a:xfrm>
            <a:off x="9006840" y="5367528"/>
            <a:ext cx="2377440"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solo lo que la API usa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Monitoreo en tres dimensiones</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Sistema, datos y modelo. Ninguno reemplaza a los otros</a:t>
            </a:r>
            <a:endParaRPr lang="en-US" sz="1400" dirty="0"/>
          </a:p>
        </p:txBody>
      </p:sp>
      <p:sp>
        <p:nvSpPr>
          <p:cNvPr id="6" name="Shape 4"/>
          <p:cNvSpPr/>
          <p:nvPr/>
        </p:nvSpPr>
        <p:spPr>
          <a:xfrm>
            <a:off x="566928" y="1691640"/>
            <a:ext cx="3474720" cy="2286000"/>
          </a:xfrm>
          <a:prstGeom prst="roundRect">
            <a:avLst>
              <a:gd name="adj" fmla="val 3200"/>
            </a:avLst>
          </a:prstGeom>
          <a:solidFill>
            <a:srgbClr val="F4F6F9"/>
          </a:solidFill>
          <a:ln w="12700">
            <a:solidFill>
              <a:srgbClr val="E3E8EF"/>
            </a:solidFill>
            <a:prstDash val="solid"/>
          </a:ln>
        </p:spPr>
      </p:sp>
      <p:sp>
        <p:nvSpPr>
          <p:cNvPr id="7" name="Shape 5"/>
          <p:cNvSpPr/>
          <p:nvPr/>
        </p:nvSpPr>
        <p:spPr>
          <a:xfrm>
            <a:off x="841248" y="1920240"/>
            <a:ext cx="365760" cy="365760"/>
          </a:xfrm>
          <a:prstGeom prst="ellipse">
            <a:avLst/>
          </a:prstGeom>
          <a:solidFill>
            <a:srgbClr val="2A78D6"/>
          </a:solidFill>
          <a:ln/>
        </p:spPr>
      </p:sp>
      <p:sp>
        <p:nvSpPr>
          <p:cNvPr id="8" name="Text 6"/>
          <p:cNvSpPr/>
          <p:nvPr/>
        </p:nvSpPr>
        <p:spPr>
          <a:xfrm>
            <a:off x="1344168" y="1920240"/>
            <a:ext cx="2468880" cy="365760"/>
          </a:xfrm>
          <a:prstGeom prst="rect">
            <a:avLst/>
          </a:prstGeom>
          <a:noFill/>
          <a:ln/>
        </p:spPr>
        <p:txBody>
          <a:bodyPr wrap="square" lIns="0" tIns="0" rIns="0" bIns="0" rtlCol="0" anchor="ctr"/>
          <a:lstStyle/>
          <a:p>
            <a:pPr indent="0" marL="0">
              <a:buNone/>
            </a:pPr>
            <a:r>
              <a:rPr lang="en-US" sz="1600" b="1" dirty="0">
                <a:solidFill>
                  <a:srgbClr val="12181F"/>
                </a:solidFill>
                <a:latin typeface="Calibri" pitchFamily="34" charset="0"/>
                <a:ea typeface="Calibri" pitchFamily="34" charset="-122"/>
                <a:cs typeface="Calibri" pitchFamily="34" charset="-120"/>
              </a:rPr>
              <a:t>System</a:t>
            </a:r>
            <a:endParaRPr lang="en-US" sz="1600" dirty="0"/>
          </a:p>
        </p:txBody>
      </p:sp>
      <p:sp>
        <p:nvSpPr>
          <p:cNvPr id="9" name="Text 7"/>
          <p:cNvSpPr/>
          <p:nvPr/>
        </p:nvSpPr>
        <p:spPr>
          <a:xfrm>
            <a:off x="841248" y="2423160"/>
            <a:ext cx="2926080" cy="77724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latencia, throughput, errores y disponibilidad</a:t>
            </a:r>
            <a:endParaRPr lang="en-US" sz="1250" dirty="0"/>
          </a:p>
        </p:txBody>
      </p:sp>
      <p:sp>
        <p:nvSpPr>
          <p:cNvPr id="10" name="Text 8"/>
          <p:cNvSpPr/>
          <p:nvPr/>
        </p:nvSpPr>
        <p:spPr>
          <a:xfrm>
            <a:off x="841248" y="3246120"/>
            <a:ext cx="2926080" cy="548640"/>
          </a:xfrm>
          <a:prstGeom prst="rect">
            <a:avLst/>
          </a:prstGeom>
          <a:noFill/>
          <a:ln/>
        </p:spPr>
        <p:txBody>
          <a:bodyPr wrap="square" lIns="0" tIns="0" rIns="0" bIns="0" rtlCol="0" anchor="t"/>
          <a:lstStyle/>
          <a:p>
            <a:pPr indent="0" marL="0">
              <a:buNone/>
            </a:pPr>
            <a:r>
              <a:rPr lang="en-US" sz="1000" dirty="0">
                <a:solidFill>
                  <a:srgbClr val="5C6570"/>
                </a:solidFill>
                <a:latin typeface="Courier New" pitchFamily="34" charset="0"/>
                <a:ea typeface="Courier New" pitchFamily="34" charset="-122"/>
                <a:cs typeface="Courier New" pitchFamily="34" charset="-120"/>
              </a:rPr>
              <a:t>GET /metrics</a:t>
            </a:r>
            <a:endParaRPr lang="en-US" sz="1000" dirty="0"/>
          </a:p>
          <a:p>
            <a:pPr indent="0" marL="0">
              <a:buNone/>
            </a:pPr>
            <a:r>
              <a:rPr lang="en-US" sz="1000" dirty="0">
                <a:solidFill>
                  <a:srgbClr val="5C6570"/>
                </a:solidFill>
                <a:latin typeface="Courier New" pitchFamily="34" charset="0"/>
                <a:ea typeface="Courier New" pitchFamily="34" charset="-122"/>
                <a:cs typeface="Courier New" pitchFamily="34" charset="-120"/>
              </a:rPr>
              <a:t>logs/pipeline.log</a:t>
            </a:r>
            <a:endParaRPr lang="en-US" sz="1000" dirty="0"/>
          </a:p>
        </p:txBody>
      </p:sp>
      <p:sp>
        <p:nvSpPr>
          <p:cNvPr id="11" name="Shape 9"/>
          <p:cNvSpPr/>
          <p:nvPr/>
        </p:nvSpPr>
        <p:spPr>
          <a:xfrm>
            <a:off x="4315968" y="1691640"/>
            <a:ext cx="3474720" cy="2286000"/>
          </a:xfrm>
          <a:prstGeom prst="roundRect">
            <a:avLst>
              <a:gd name="adj" fmla="val 3200"/>
            </a:avLst>
          </a:prstGeom>
          <a:solidFill>
            <a:srgbClr val="F4F6F9"/>
          </a:solidFill>
          <a:ln w="12700">
            <a:solidFill>
              <a:srgbClr val="E3E8EF"/>
            </a:solidFill>
            <a:prstDash val="solid"/>
          </a:ln>
        </p:spPr>
      </p:sp>
      <p:sp>
        <p:nvSpPr>
          <p:cNvPr id="12" name="Shape 10"/>
          <p:cNvSpPr/>
          <p:nvPr/>
        </p:nvSpPr>
        <p:spPr>
          <a:xfrm>
            <a:off x="4590288" y="1920240"/>
            <a:ext cx="365760" cy="365760"/>
          </a:xfrm>
          <a:prstGeom prst="ellipse">
            <a:avLst/>
          </a:prstGeom>
          <a:solidFill>
            <a:srgbClr val="1BAF7A"/>
          </a:solidFill>
          <a:ln/>
        </p:spPr>
      </p:sp>
      <p:sp>
        <p:nvSpPr>
          <p:cNvPr id="13" name="Text 11"/>
          <p:cNvSpPr/>
          <p:nvPr/>
        </p:nvSpPr>
        <p:spPr>
          <a:xfrm>
            <a:off x="5093208" y="1920240"/>
            <a:ext cx="2468880" cy="365760"/>
          </a:xfrm>
          <a:prstGeom prst="rect">
            <a:avLst/>
          </a:prstGeom>
          <a:noFill/>
          <a:ln/>
        </p:spPr>
        <p:txBody>
          <a:bodyPr wrap="square" lIns="0" tIns="0" rIns="0" bIns="0" rtlCol="0" anchor="ctr"/>
          <a:lstStyle/>
          <a:p>
            <a:pPr indent="0" marL="0">
              <a:buNone/>
            </a:pPr>
            <a:r>
              <a:rPr lang="en-US" sz="1600" b="1" dirty="0">
                <a:solidFill>
                  <a:srgbClr val="12181F"/>
                </a:solidFill>
                <a:latin typeface="Calibri" pitchFamily="34" charset="0"/>
                <a:ea typeface="Calibri" pitchFamily="34" charset="-122"/>
                <a:cs typeface="Calibri" pitchFamily="34" charset="-120"/>
              </a:rPr>
              <a:t>Data</a:t>
            </a:r>
            <a:endParaRPr lang="en-US" sz="1600" dirty="0"/>
          </a:p>
        </p:txBody>
      </p:sp>
      <p:sp>
        <p:nvSpPr>
          <p:cNvPr id="14" name="Text 12"/>
          <p:cNvSpPr/>
          <p:nvPr/>
        </p:nvSpPr>
        <p:spPr>
          <a:xfrm>
            <a:off x="4590288" y="2423160"/>
            <a:ext cx="2926080" cy="77724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que las distribuciones no cambien</a:t>
            </a:r>
            <a:endParaRPr lang="en-US" sz="1250" dirty="0"/>
          </a:p>
        </p:txBody>
      </p:sp>
      <p:sp>
        <p:nvSpPr>
          <p:cNvPr id="15" name="Text 13"/>
          <p:cNvSpPr/>
          <p:nvPr/>
        </p:nvSpPr>
        <p:spPr>
          <a:xfrm>
            <a:off x="4590288" y="3246120"/>
            <a:ext cx="2926080" cy="548640"/>
          </a:xfrm>
          <a:prstGeom prst="rect">
            <a:avLst/>
          </a:prstGeom>
          <a:noFill/>
          <a:ln/>
        </p:spPr>
        <p:txBody>
          <a:bodyPr wrap="square" lIns="0" tIns="0" rIns="0" bIns="0" rtlCol="0" anchor="t"/>
          <a:lstStyle/>
          <a:p>
            <a:pPr indent="0" marL="0">
              <a:buNone/>
            </a:pPr>
            <a:r>
              <a:rPr lang="en-US" sz="1000" dirty="0">
                <a:solidFill>
                  <a:srgbClr val="5C6570"/>
                </a:solidFill>
                <a:latin typeface="Courier New" pitchFamily="34" charset="0"/>
                <a:ea typeface="Courier New" pitchFamily="34" charset="-122"/>
                <a:cs typeface="Courier New" pitchFamily="34" charset="-120"/>
              </a:rPr>
              <a:t>src/monitoring/</a:t>
            </a:r>
            <a:endParaRPr lang="en-US" sz="1000" dirty="0"/>
          </a:p>
          <a:p>
            <a:pPr indent="0" marL="0">
              <a:buNone/>
            </a:pPr>
            <a:r>
              <a:rPr lang="en-US" sz="1000" dirty="0">
                <a:solidFill>
                  <a:srgbClr val="5C6570"/>
                </a:solidFill>
                <a:latin typeface="Courier New" pitchFamily="34" charset="0"/>
                <a:ea typeface="Courier New" pitchFamily="34" charset="-122"/>
                <a:cs typeface="Courier New" pitchFamily="34" charset="-120"/>
              </a:rPr>
              <a:t>drift.py</a:t>
            </a:r>
            <a:endParaRPr lang="en-US" sz="1000" dirty="0"/>
          </a:p>
        </p:txBody>
      </p:sp>
      <p:sp>
        <p:nvSpPr>
          <p:cNvPr id="16" name="Shape 14"/>
          <p:cNvSpPr/>
          <p:nvPr/>
        </p:nvSpPr>
        <p:spPr>
          <a:xfrm>
            <a:off x="8065008" y="1691640"/>
            <a:ext cx="3474720" cy="2286000"/>
          </a:xfrm>
          <a:prstGeom prst="roundRect">
            <a:avLst>
              <a:gd name="adj" fmla="val 3200"/>
            </a:avLst>
          </a:prstGeom>
          <a:solidFill>
            <a:srgbClr val="F4F6F9"/>
          </a:solidFill>
          <a:ln w="12700">
            <a:solidFill>
              <a:srgbClr val="E3E8EF"/>
            </a:solidFill>
            <a:prstDash val="solid"/>
          </a:ln>
        </p:spPr>
      </p:sp>
      <p:sp>
        <p:nvSpPr>
          <p:cNvPr id="17" name="Shape 15"/>
          <p:cNvSpPr/>
          <p:nvPr/>
        </p:nvSpPr>
        <p:spPr>
          <a:xfrm>
            <a:off x="8339328" y="1920240"/>
            <a:ext cx="365760" cy="365760"/>
          </a:xfrm>
          <a:prstGeom prst="ellipse">
            <a:avLst/>
          </a:prstGeom>
          <a:solidFill>
            <a:srgbClr val="EB6834"/>
          </a:solidFill>
          <a:ln/>
        </p:spPr>
      </p:sp>
      <p:sp>
        <p:nvSpPr>
          <p:cNvPr id="18" name="Text 16"/>
          <p:cNvSpPr/>
          <p:nvPr/>
        </p:nvSpPr>
        <p:spPr>
          <a:xfrm>
            <a:off x="8842248" y="1920240"/>
            <a:ext cx="2468880" cy="365760"/>
          </a:xfrm>
          <a:prstGeom prst="rect">
            <a:avLst/>
          </a:prstGeom>
          <a:noFill/>
          <a:ln/>
        </p:spPr>
        <p:txBody>
          <a:bodyPr wrap="square" lIns="0" tIns="0" rIns="0" bIns="0" rtlCol="0" anchor="ctr"/>
          <a:lstStyle/>
          <a:p>
            <a:pPr indent="0" marL="0">
              <a:buNone/>
            </a:pPr>
            <a:r>
              <a:rPr lang="en-US" sz="1600" b="1" dirty="0">
                <a:solidFill>
                  <a:srgbClr val="12181F"/>
                </a:solidFill>
                <a:latin typeface="Calibri" pitchFamily="34" charset="0"/>
                <a:ea typeface="Calibri" pitchFamily="34" charset="-122"/>
                <a:cs typeface="Calibri" pitchFamily="34" charset="-120"/>
              </a:rPr>
              <a:t>Model</a:t>
            </a:r>
            <a:endParaRPr lang="en-US" sz="1600" dirty="0"/>
          </a:p>
        </p:txBody>
      </p:sp>
      <p:sp>
        <p:nvSpPr>
          <p:cNvPr id="19" name="Text 17"/>
          <p:cNvSpPr/>
          <p:nvPr/>
        </p:nvSpPr>
        <p:spPr>
          <a:xfrm>
            <a:off x="8339328" y="2423160"/>
            <a:ext cx="2926080" cy="77724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que el pronóstico siga acertando</a:t>
            </a:r>
            <a:endParaRPr lang="en-US" sz="1250" dirty="0"/>
          </a:p>
        </p:txBody>
      </p:sp>
      <p:sp>
        <p:nvSpPr>
          <p:cNvPr id="20" name="Text 18"/>
          <p:cNvSpPr/>
          <p:nvPr/>
        </p:nvSpPr>
        <p:spPr>
          <a:xfrm>
            <a:off x="8339328" y="3246120"/>
            <a:ext cx="2926080" cy="548640"/>
          </a:xfrm>
          <a:prstGeom prst="rect">
            <a:avLst/>
          </a:prstGeom>
          <a:noFill/>
          <a:ln/>
        </p:spPr>
        <p:txBody>
          <a:bodyPr wrap="square" lIns="0" tIns="0" rIns="0" bIns="0" rtlCol="0" anchor="t"/>
          <a:lstStyle/>
          <a:p>
            <a:pPr indent="0" marL="0">
              <a:buNone/>
            </a:pPr>
            <a:r>
              <a:rPr lang="en-US" sz="1000" dirty="0">
                <a:solidFill>
                  <a:srgbClr val="5C6570"/>
                </a:solidFill>
                <a:latin typeface="Courier New" pitchFamily="34" charset="0"/>
                <a:ea typeface="Courier New" pitchFamily="34" charset="-122"/>
                <a:cs typeface="Courier New" pitchFamily="34" charset="-120"/>
              </a:rPr>
              <a:t>src/monitoring/</a:t>
            </a:r>
            <a:endParaRPr lang="en-US" sz="1000" dirty="0"/>
          </a:p>
          <a:p>
            <a:pPr indent="0" marL="0">
              <a:buNone/>
            </a:pPr>
            <a:r>
              <a:rPr lang="en-US" sz="1000" dirty="0">
                <a:solidFill>
                  <a:srgbClr val="5C6570"/>
                </a:solidFill>
                <a:latin typeface="Courier New" pitchFamily="34" charset="0"/>
                <a:ea typeface="Courier New" pitchFamily="34" charset="-122"/>
                <a:cs typeface="Courier New" pitchFamily="34" charset="-120"/>
              </a:rPr>
              <a:t>model_metrics.py</a:t>
            </a:r>
            <a:endParaRPr lang="en-US" sz="1000" dirty="0"/>
          </a:p>
        </p:txBody>
      </p:sp>
      <p:sp>
        <p:nvSpPr>
          <p:cNvPr id="21" name="Text 19"/>
          <p:cNvSpPr/>
          <p:nvPr/>
        </p:nvSpPr>
        <p:spPr>
          <a:xfrm>
            <a:off x="566928" y="4206240"/>
            <a:ext cx="5486400" cy="310896"/>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Cuatro medidas de drift, no una</a:t>
            </a:r>
            <a:endParaRPr lang="en-US" sz="1400" dirty="0"/>
          </a:p>
        </p:txBody>
      </p:sp>
      <p:sp>
        <p:nvSpPr>
          <p:cNvPr id="22" name="Text 20"/>
          <p:cNvSpPr/>
          <p:nvPr/>
        </p:nvSpPr>
        <p:spPr>
          <a:xfrm>
            <a:off x="566928" y="4617720"/>
            <a:ext cx="548640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2181F"/>
                </a:solidFill>
                <a:latin typeface="Calibri" pitchFamily="34" charset="0"/>
                <a:ea typeface="Calibri" pitchFamily="34" charset="-122"/>
                <a:cs typeface="Calibri" pitchFamily="34" charset="-120"/>
              </a:rPr>
              <a:t>PSI — parte la variable en 10 tramos. Es la que usamos para decidir.</a:t>
            </a:r>
            <a:endParaRPr lang="en-US" sz="1250" dirty="0"/>
          </a:p>
          <a:p>
            <a:pPr marL="342900" indent="-342900">
              <a:spcAft>
                <a:spcPts val="500"/>
              </a:spcAft>
              <a:buSzPct val="100000"/>
              <a:buChar char="•"/>
            </a:pPr>
            <a:r>
              <a:rPr lang="en-US" sz="1250" dirty="0">
                <a:solidFill>
                  <a:srgbClr val="12181F"/>
                </a:solidFill>
                <a:latin typeface="Calibri" pitchFamily="34" charset="0"/>
                <a:ea typeface="Calibri" pitchFamily="34" charset="-122"/>
                <a:cs typeface="Calibri" pitchFamily="34" charset="-120"/>
              </a:rPr>
              <a:t>Kolmogorov-Smirnov — la mayor distancia entre las curvas acumuladas.</a:t>
            </a:r>
            <a:endParaRPr lang="en-US" sz="1250" dirty="0"/>
          </a:p>
          <a:p>
            <a:pPr marL="342900" indent="-342900">
              <a:spcAft>
                <a:spcPts val="500"/>
              </a:spcAft>
              <a:buSzPct val="100000"/>
              <a:buChar char="•"/>
            </a:pPr>
            <a:r>
              <a:rPr lang="en-US" sz="1250" dirty="0">
                <a:solidFill>
                  <a:srgbClr val="12181F"/>
                </a:solidFill>
                <a:latin typeface="Calibri" pitchFamily="34" charset="0"/>
                <a:ea typeface="Calibri" pitchFamily="34" charset="-122"/>
                <a:cs typeface="Calibri" pitchFamily="34" charset="-120"/>
              </a:rPr>
              <a:t>Wasserstein — cuánto habría que mover los datos.</a:t>
            </a:r>
            <a:endParaRPr lang="en-US" sz="1250" dirty="0"/>
          </a:p>
          <a:p>
            <a:pPr marL="342900" indent="-342900">
              <a:spcAft>
                <a:spcPts val="500"/>
              </a:spcAft>
              <a:buSzPct val="100000"/>
              <a:buChar char="•"/>
            </a:pPr>
            <a:r>
              <a:rPr lang="en-US" sz="1250" dirty="0">
                <a:solidFill>
                  <a:srgbClr val="12181F"/>
                </a:solidFill>
                <a:latin typeface="Calibri" pitchFamily="34" charset="0"/>
                <a:ea typeface="Calibri" pitchFamily="34" charset="-122"/>
                <a:cs typeface="Calibri" pitchFamily="34" charset="-120"/>
              </a:rPr>
              <a:t>Jensen-Shannon — qué tan distintas son, de 0 a 1.</a:t>
            </a:r>
            <a:endParaRPr lang="en-US" sz="1250" dirty="0"/>
          </a:p>
        </p:txBody>
      </p:sp>
      <p:sp>
        <p:nvSpPr>
          <p:cNvPr id="23" name="Shape 21"/>
          <p:cNvSpPr/>
          <p:nvPr/>
        </p:nvSpPr>
        <p:spPr>
          <a:xfrm>
            <a:off x="6400800" y="4206240"/>
            <a:ext cx="5212080" cy="2148840"/>
          </a:xfrm>
          <a:prstGeom prst="roundRect">
            <a:avLst>
              <a:gd name="adj" fmla="val 3404"/>
            </a:avLst>
          </a:prstGeom>
          <a:solidFill>
            <a:srgbClr val="F4F6F9"/>
          </a:solidFill>
          <a:ln w="12700">
            <a:solidFill>
              <a:srgbClr val="E3E8EF"/>
            </a:solidFill>
            <a:prstDash val="solid"/>
          </a:ln>
        </p:spPr>
      </p:sp>
      <p:sp>
        <p:nvSpPr>
          <p:cNvPr id="24" name="Text 22"/>
          <p:cNvSpPr/>
          <p:nvPr/>
        </p:nvSpPr>
        <p:spPr>
          <a:xfrm>
            <a:off x="6693408" y="4370832"/>
            <a:ext cx="4663440" cy="310896"/>
          </a:xfrm>
          <a:prstGeom prst="rect">
            <a:avLst/>
          </a:prstGeom>
          <a:noFill/>
          <a:ln/>
        </p:spPr>
        <p:txBody>
          <a:bodyPr wrap="square" lIns="0" tIns="0" rIns="0" bIns="0" rtlCol="0" anchor="ctr"/>
          <a:lstStyle/>
          <a:p>
            <a:pPr indent="0" marL="0">
              <a:buNone/>
            </a:pPr>
            <a:r>
              <a:rPr lang="en-US" sz="1350" b="1" dirty="0">
                <a:solidFill>
                  <a:srgbClr val="1BAF7A"/>
                </a:solidFill>
                <a:latin typeface="Calibri" pitchFamily="34" charset="0"/>
                <a:ea typeface="Calibri" pitchFamily="34" charset="-122"/>
                <a:cs typeface="Calibri" pitchFamily="34" charset="-120"/>
              </a:rPr>
              <a:t>La comprobación de que el cálculo está bien</a:t>
            </a:r>
            <a:endParaRPr lang="en-US" sz="1350" dirty="0"/>
          </a:p>
        </p:txBody>
      </p:sp>
      <p:sp>
        <p:nvSpPr>
          <p:cNvPr id="25" name="Text 23"/>
          <p:cNvSpPr/>
          <p:nvPr/>
        </p:nvSpPr>
        <p:spPr>
          <a:xfrm>
            <a:off x="6693408" y="4754880"/>
            <a:ext cx="4663440" cy="155448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Las variables de calendario dan PSI cercano a cero. Tiene que ser así: la distribución de horas y días de la semana no cambia entre periodos.</a:t>
            </a:r>
            <a:endParaRPr lang="en-US" sz="1250" dirty="0"/>
          </a:p>
          <a:p>
            <a:pPr indent="0" marL="0">
              <a:buNone/>
            </a:pPr>
            <a:endParaRPr lang="en-US" sz="1250" dirty="0"/>
          </a:p>
          <a:p>
            <a:pPr indent="0" marL="0">
              <a:buNone/>
            </a:pPr>
            <a:r>
              <a:rPr lang="en-US" sz="1250" dirty="0">
                <a:solidFill>
                  <a:srgbClr val="12181F"/>
                </a:solidFill>
                <a:latin typeface="Calibri" pitchFamily="34" charset="0"/>
                <a:ea typeface="Calibri" pitchFamily="34" charset="-122"/>
                <a:cs typeface="Calibri" pitchFamily="34" charset="-120"/>
              </a:rPr>
              <a:t>Si dieran alto, el cálculo estaría mal. Los umbrales 0.10 y 0.25 vienen del riesgo crediticio y no son leyes universales.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EB6834"/>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Drift no es lo mismo que degradación</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AFC0D4"/>
                </a:solidFill>
                <a:latin typeface="Calibri" pitchFamily="34" charset="0"/>
                <a:ea typeface="Calibri" pitchFamily="34" charset="-122"/>
                <a:cs typeface="Calibri" pitchFamily="34" charset="-120"/>
              </a:rPr>
              <a:t>El hallazgo principal del monitoreo, medido con nuestros propios datos</a:t>
            </a:r>
            <a:endParaRPr lang="en-US" sz="1400" dirty="0"/>
          </a:p>
        </p:txBody>
      </p:sp>
      <p:graphicFrame>
        <p:nvGraphicFramePr>
          <p:cNvPr id="6" name="Chart 0" descr=""/>
          <p:cNvGraphicFramePr/>
          <p:nvPr/>
        </p:nvGraphicFramePr>
        <p:xfrm>
          <a:off x="566928" y="1600200"/>
          <a:ext cx="329184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3995928" y="1600200"/>
          <a:ext cx="3246120" cy="260604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66928" y="4343400"/>
            <a:ext cx="6675120" cy="2011680"/>
          </a:xfrm>
          <a:prstGeom prst="roundRect">
            <a:avLst>
              <a:gd name="adj" fmla="val 3636"/>
            </a:avLst>
          </a:prstGeom>
          <a:solidFill>
            <a:srgbClr val="16273D"/>
          </a:solidFill>
          <a:ln w="12700">
            <a:solidFill>
              <a:srgbClr val="16273D"/>
            </a:solidFill>
            <a:prstDash val="solid"/>
          </a:ln>
        </p:spPr>
      </p:sp>
      <p:sp>
        <p:nvSpPr>
          <p:cNvPr id="9" name="Text 5"/>
          <p:cNvSpPr/>
          <p:nvPr/>
        </p:nvSpPr>
        <p:spPr>
          <a:xfrm>
            <a:off x="859536" y="4526280"/>
            <a:ext cx="6126480" cy="1737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El lote 3 tiene un PSI de 3.265 —trece veces el umbral de alerta— y el modelo acierta un 3.4% MEJOR que en validación.</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Si el disparador mirara solo el drift, habríamos reentrenado un modelo que estaba funcionando bien.</a:t>
            </a:r>
            <a:endParaRPr lang="en-US" sz="1300" dirty="0"/>
          </a:p>
        </p:txBody>
      </p:sp>
      <p:sp>
        <p:nvSpPr>
          <p:cNvPr id="10" name="Text 6"/>
          <p:cNvSpPr/>
          <p:nvPr/>
        </p:nvSpPr>
        <p:spPr>
          <a:xfrm>
            <a:off x="7635240" y="1600200"/>
            <a:ext cx="3977640" cy="310896"/>
          </a:xfrm>
          <a:prstGeom prst="rect">
            <a:avLst/>
          </a:prstGeom>
          <a:noFill/>
          <a:ln/>
        </p:spPr>
        <p:txBody>
          <a:bodyPr wrap="square" lIns="0" tIns="0" rIns="0" bIns="0" rtlCol="0" anchor="ctr"/>
          <a:lstStyle/>
          <a:p>
            <a:pPr indent="0" marL="0">
              <a:buNone/>
            </a:pPr>
            <a:r>
              <a:rPr lang="en-US" sz="1400" b="1" dirty="0">
                <a:solidFill>
                  <a:srgbClr val="1BAF7A"/>
                </a:solidFill>
                <a:latin typeface="Calibri" pitchFamily="34" charset="0"/>
                <a:ea typeface="Calibri" pitchFamily="34" charset="-122"/>
                <a:cs typeface="Calibri" pitchFamily="34" charset="-120"/>
              </a:rPr>
              <a:t>Por qué puede pasar</a:t>
            </a:r>
            <a:endParaRPr lang="en-US" sz="1400" dirty="0"/>
          </a:p>
        </p:txBody>
      </p:sp>
      <p:sp>
        <p:nvSpPr>
          <p:cNvPr id="11" name="Text 7"/>
          <p:cNvSpPr/>
          <p:nvPr/>
        </p:nvSpPr>
        <p:spPr>
          <a:xfrm>
            <a:off x="7635240" y="2011680"/>
            <a:ext cx="3977640"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El modelo aprendió la relación entre las variables, no sus valores. Un invierno frío entra dentro de lo que ya sabe.</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El drift puede estar en variables que al modelo casi no le importan.</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Y al revés: se puede degradar sin drift ninguno. Eso es concept drift y el PSI no lo ve.</a:t>
            </a:r>
            <a:endParaRPr lang="en-US" sz="1250" dirty="0"/>
          </a:p>
        </p:txBody>
      </p:sp>
      <p:sp>
        <p:nvSpPr>
          <p:cNvPr id="12" name="Shape 8"/>
          <p:cNvSpPr/>
          <p:nvPr/>
        </p:nvSpPr>
        <p:spPr>
          <a:xfrm>
            <a:off x="7635240" y="4343400"/>
            <a:ext cx="3977640" cy="2011680"/>
          </a:xfrm>
          <a:prstGeom prst="roundRect">
            <a:avLst>
              <a:gd name="adj" fmla="val 3636"/>
            </a:avLst>
          </a:prstGeom>
          <a:solidFill>
            <a:srgbClr val="16273D"/>
          </a:solidFill>
          <a:ln w="12700">
            <a:solidFill>
              <a:srgbClr val="16273D"/>
            </a:solidFill>
            <a:prstDash val="solid"/>
          </a:ln>
        </p:spPr>
      </p:sp>
      <p:sp>
        <p:nvSpPr>
          <p:cNvPr id="13" name="Text 9"/>
          <p:cNvSpPr/>
          <p:nvPr/>
        </p:nvSpPr>
        <p:spPr>
          <a:xfrm>
            <a:off x="7909560" y="4526280"/>
            <a:ext cx="3429000" cy="173736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El de datos avisa temprano, apenas llega el lote.</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El de modelo confirma el daño, pero con horizonte de 24 horas solo se puede medir un día después.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Cuándo reentrenar</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Hacen falta las dos condiciones a la vez, no una sola</a:t>
            </a:r>
            <a:endParaRPr lang="en-US" sz="1400" dirty="0"/>
          </a:p>
        </p:txBody>
      </p:sp>
      <p:sp>
        <p:nvSpPr>
          <p:cNvPr id="6" name="Shape 4"/>
          <p:cNvSpPr/>
          <p:nvPr/>
        </p:nvSpPr>
        <p:spPr>
          <a:xfrm>
            <a:off x="566928" y="1691640"/>
            <a:ext cx="5120640" cy="1691640"/>
          </a:xfrm>
          <a:prstGeom prst="roundRect">
            <a:avLst>
              <a:gd name="adj" fmla="val 4324"/>
            </a:avLst>
          </a:prstGeom>
          <a:solidFill>
            <a:srgbClr val="F4F6F9"/>
          </a:solidFill>
          <a:ln w="12700">
            <a:solidFill>
              <a:srgbClr val="E3E8EF"/>
            </a:solidFill>
            <a:prstDash val="solid"/>
          </a:ln>
        </p:spPr>
      </p:sp>
      <p:sp>
        <p:nvSpPr>
          <p:cNvPr id="7" name="Text 5"/>
          <p:cNvSpPr/>
          <p:nvPr/>
        </p:nvSpPr>
        <p:spPr>
          <a:xfrm>
            <a:off x="859536" y="1874520"/>
            <a:ext cx="4572000" cy="1371600"/>
          </a:xfrm>
          <a:prstGeom prst="rect">
            <a:avLst/>
          </a:prstGeom>
          <a:noFill/>
          <a:ln/>
        </p:spPr>
        <p:txBody>
          <a:bodyPr wrap="square" lIns="0" tIns="0" rIns="0" bIns="0" rtlCol="0" anchor="ctr"/>
          <a:lstStyle/>
          <a:p>
            <a:pPr indent="0" marL="0">
              <a:lnSpc>
                <a:spcPts val="1900"/>
              </a:lnSpc>
              <a:buNone/>
            </a:pPr>
            <a:r>
              <a:rPr lang="en-US" sz="1250" dirty="0">
                <a:solidFill>
                  <a:srgbClr val="12181F"/>
                </a:solidFill>
                <a:latin typeface="Courier New" pitchFamily="34" charset="0"/>
                <a:ea typeface="Courier New" pitchFamily="34" charset="-122"/>
                <a:cs typeface="Courier New" pitchFamily="34" charset="-120"/>
              </a:rPr>
              <a:t>SI    el PSI más alto ≥ 0.25</a:t>
            </a:r>
            <a:endParaRPr lang="en-US" sz="1250" dirty="0"/>
          </a:p>
          <a:p>
            <a:pPr indent="0" marL="0">
              <a:lnSpc>
                <a:spcPts val="1900"/>
              </a:lnSpc>
              <a:buNone/>
            </a:pPr>
            <a:r>
              <a:rPr lang="en-US" sz="1250" dirty="0">
                <a:solidFill>
                  <a:srgbClr val="12181F"/>
                </a:solidFill>
                <a:latin typeface="Courier New" pitchFamily="34" charset="0"/>
                <a:ea typeface="Courier New" pitchFamily="34" charset="-122"/>
                <a:cs typeface="Courier New" pitchFamily="34" charset="-120"/>
              </a:rPr>
              <a:t>Y     el MAE empeoró más de 25%</a:t>
            </a:r>
            <a:endParaRPr lang="en-US" sz="1250" dirty="0"/>
          </a:p>
          <a:p>
            <a:pPr indent="0" marL="0">
              <a:lnSpc>
                <a:spcPts val="1900"/>
              </a:lnSpc>
              <a:buNone/>
            </a:pPr>
            <a:r>
              <a:rPr lang="en-US" sz="1250" dirty="0">
                <a:solidFill>
                  <a:srgbClr val="12181F"/>
                </a:solidFill>
                <a:latin typeface="Courier New" pitchFamily="34" charset="0"/>
                <a:ea typeface="Courier New" pitchFamily="34" charset="-122"/>
                <a:cs typeface="Courier New" pitchFamily="34" charset="-120"/>
              </a:rPr>
              <a:t>Y     el lote trae ≥ 200 filas</a:t>
            </a:r>
            <a:endParaRPr lang="en-US" sz="1250" dirty="0"/>
          </a:p>
          <a:p>
            <a:pPr indent="0" marL="0">
              <a:lnSpc>
                <a:spcPts val="1900"/>
              </a:lnSpc>
              <a:buNone/>
            </a:pPr>
            <a:r>
              <a:rPr lang="en-US" sz="1250" dirty="0">
                <a:solidFill>
                  <a:srgbClr val="12181F"/>
                </a:solidFill>
                <a:latin typeface="Courier New" pitchFamily="34" charset="0"/>
                <a:ea typeface="Courier New" pitchFamily="34" charset="-122"/>
                <a:cs typeface="Courier New" pitchFamily="34" charset="-120"/>
              </a:rPr>
              <a:t>ENTONCES  reentrenar</a:t>
            </a:r>
            <a:endParaRPr lang="en-US" sz="1250" dirty="0"/>
          </a:p>
        </p:txBody>
      </p:sp>
      <p:sp>
        <p:nvSpPr>
          <p:cNvPr id="8" name="Shape 6"/>
          <p:cNvSpPr/>
          <p:nvPr/>
        </p:nvSpPr>
        <p:spPr>
          <a:xfrm>
            <a:off x="566928" y="3657600"/>
            <a:ext cx="2468880" cy="1234440"/>
          </a:xfrm>
          <a:prstGeom prst="roundRect">
            <a:avLst>
              <a:gd name="adj" fmla="val 5926"/>
            </a:avLst>
          </a:prstGeom>
          <a:solidFill>
            <a:srgbClr val="F4F6F9"/>
          </a:solidFill>
          <a:ln w="12700">
            <a:solidFill>
              <a:srgbClr val="E3E8EF"/>
            </a:solidFill>
            <a:prstDash val="solid"/>
          </a:ln>
        </p:spPr>
      </p:sp>
      <p:sp>
        <p:nvSpPr>
          <p:cNvPr id="9" name="Text 7"/>
          <p:cNvSpPr/>
          <p:nvPr/>
        </p:nvSpPr>
        <p:spPr>
          <a:xfrm>
            <a:off x="768096" y="3785616"/>
            <a:ext cx="2103120" cy="274320"/>
          </a:xfrm>
          <a:prstGeom prst="rect">
            <a:avLst/>
          </a:prstGeom>
          <a:noFill/>
          <a:ln/>
        </p:spPr>
        <p:txBody>
          <a:bodyPr wrap="square" lIns="0" tIns="0" rIns="0" bIns="0" rtlCol="0" anchor="ctr"/>
          <a:lstStyle/>
          <a:p>
            <a:pPr indent="0" marL="0">
              <a:buNone/>
            </a:pPr>
            <a:r>
              <a:rPr lang="en-US" sz="1250" b="1" dirty="0">
                <a:solidFill>
                  <a:srgbClr val="EB6834"/>
                </a:solidFill>
                <a:latin typeface="Calibri" pitchFamily="34" charset="0"/>
                <a:ea typeface="Calibri" pitchFamily="34" charset="-122"/>
                <a:cs typeface="Calibri" pitchFamily="34" charset="-120"/>
              </a:rPr>
              <a:t>REENTRENAR</a:t>
            </a:r>
            <a:endParaRPr lang="en-US" sz="1250" dirty="0"/>
          </a:p>
        </p:txBody>
      </p:sp>
      <p:sp>
        <p:nvSpPr>
          <p:cNvPr id="10" name="Text 8"/>
          <p:cNvSpPr/>
          <p:nvPr/>
        </p:nvSpPr>
        <p:spPr>
          <a:xfrm>
            <a:off x="768096" y="4078224"/>
            <a:ext cx="2103120" cy="237744"/>
          </a:xfrm>
          <a:prstGeom prst="rect">
            <a:avLst/>
          </a:prstGeom>
          <a:noFill/>
          <a:ln/>
        </p:spPr>
        <p:txBody>
          <a:bodyPr wrap="square" lIns="0" tIns="0" rIns="0" bIns="0" rtlCol="0" anchor="ctr"/>
          <a:lstStyle/>
          <a:p>
            <a:pPr indent="0" marL="0">
              <a:buNone/>
            </a:pPr>
            <a:r>
              <a:rPr lang="en-US" sz="1000" dirty="0">
                <a:solidFill>
                  <a:srgbClr val="5C6570"/>
                </a:solidFill>
                <a:latin typeface="Calibri" pitchFamily="34" charset="0"/>
                <a:ea typeface="Calibri" pitchFamily="34" charset="-122"/>
                <a:cs typeface="Calibri" pitchFamily="34" charset="-120"/>
              </a:rPr>
              <a:t>drift sí · degradación sí</a:t>
            </a:r>
            <a:endParaRPr lang="en-US" sz="1000" dirty="0"/>
          </a:p>
        </p:txBody>
      </p:sp>
      <p:sp>
        <p:nvSpPr>
          <p:cNvPr id="11" name="Text 9"/>
          <p:cNvSpPr/>
          <p:nvPr/>
        </p:nvSpPr>
        <p:spPr>
          <a:xfrm>
            <a:off x="768096" y="4315968"/>
            <a:ext cx="2103120" cy="502920"/>
          </a:xfrm>
          <a:prstGeom prst="rect">
            <a:avLst/>
          </a:prstGeom>
          <a:noFill/>
          <a:ln/>
        </p:spPr>
        <p:txBody>
          <a:bodyPr wrap="square" lIns="0" tIns="0" rIns="0" bIns="0" rtlCol="0" anchor="t"/>
          <a:lstStyle/>
          <a:p>
            <a:pPr indent="0" marL="0">
              <a:buNone/>
            </a:pPr>
            <a:r>
              <a:rPr lang="en-US" sz="1050" dirty="0">
                <a:solidFill>
                  <a:srgbClr val="12181F"/>
                </a:solidFill>
                <a:latin typeface="Calibri" pitchFamily="34" charset="0"/>
                <a:ea typeface="Calibri" pitchFamily="34" charset="-122"/>
                <a:cs typeface="Calibri" pitchFamily="34" charset="-120"/>
              </a:rPr>
              <a:t>cambiaron los datos y el modelo lo sufrió</a:t>
            </a:r>
            <a:endParaRPr lang="en-US" sz="1050" dirty="0"/>
          </a:p>
        </p:txBody>
      </p:sp>
      <p:sp>
        <p:nvSpPr>
          <p:cNvPr id="12" name="Shape 10"/>
          <p:cNvSpPr/>
          <p:nvPr/>
        </p:nvSpPr>
        <p:spPr>
          <a:xfrm>
            <a:off x="3218688" y="3657600"/>
            <a:ext cx="2468880" cy="1234440"/>
          </a:xfrm>
          <a:prstGeom prst="roundRect">
            <a:avLst>
              <a:gd name="adj" fmla="val 5926"/>
            </a:avLst>
          </a:prstGeom>
          <a:solidFill>
            <a:srgbClr val="F4F6F9"/>
          </a:solidFill>
          <a:ln w="12700">
            <a:solidFill>
              <a:srgbClr val="E3E8EF"/>
            </a:solidFill>
            <a:prstDash val="solid"/>
          </a:ln>
        </p:spPr>
      </p:sp>
      <p:sp>
        <p:nvSpPr>
          <p:cNvPr id="13" name="Text 11"/>
          <p:cNvSpPr/>
          <p:nvPr/>
        </p:nvSpPr>
        <p:spPr>
          <a:xfrm>
            <a:off x="3419856" y="3785616"/>
            <a:ext cx="2103120" cy="274320"/>
          </a:xfrm>
          <a:prstGeom prst="rect">
            <a:avLst/>
          </a:prstGeom>
          <a:noFill/>
          <a:ln/>
        </p:spPr>
        <p:txBody>
          <a:bodyPr wrap="square" lIns="0" tIns="0" rIns="0" bIns="0" rtlCol="0" anchor="ctr"/>
          <a:lstStyle/>
          <a:p>
            <a:pPr indent="0" marL="0">
              <a:buNone/>
            </a:pPr>
            <a:r>
              <a:rPr lang="en-US" sz="1250" b="1" dirty="0">
                <a:solidFill>
                  <a:srgbClr val="2A78D6"/>
                </a:solidFill>
                <a:latin typeface="Calibri" pitchFamily="34" charset="0"/>
                <a:ea typeface="Calibri" pitchFamily="34" charset="-122"/>
                <a:cs typeface="Calibri" pitchFamily="34" charset="-120"/>
              </a:rPr>
              <a:t>VIGILAR</a:t>
            </a:r>
            <a:endParaRPr lang="en-US" sz="1250" dirty="0"/>
          </a:p>
        </p:txBody>
      </p:sp>
      <p:sp>
        <p:nvSpPr>
          <p:cNvPr id="14" name="Text 12"/>
          <p:cNvSpPr/>
          <p:nvPr/>
        </p:nvSpPr>
        <p:spPr>
          <a:xfrm>
            <a:off x="3419856" y="4078224"/>
            <a:ext cx="2103120" cy="237744"/>
          </a:xfrm>
          <a:prstGeom prst="rect">
            <a:avLst/>
          </a:prstGeom>
          <a:noFill/>
          <a:ln/>
        </p:spPr>
        <p:txBody>
          <a:bodyPr wrap="square" lIns="0" tIns="0" rIns="0" bIns="0" rtlCol="0" anchor="ctr"/>
          <a:lstStyle/>
          <a:p>
            <a:pPr indent="0" marL="0">
              <a:buNone/>
            </a:pPr>
            <a:r>
              <a:rPr lang="en-US" sz="1000" dirty="0">
                <a:solidFill>
                  <a:srgbClr val="5C6570"/>
                </a:solidFill>
                <a:latin typeface="Calibri" pitchFamily="34" charset="0"/>
                <a:ea typeface="Calibri" pitchFamily="34" charset="-122"/>
                <a:cs typeface="Calibri" pitchFamily="34" charset="-120"/>
              </a:rPr>
              <a:t>drift sí · degradación no</a:t>
            </a:r>
            <a:endParaRPr lang="en-US" sz="1000" dirty="0"/>
          </a:p>
        </p:txBody>
      </p:sp>
      <p:sp>
        <p:nvSpPr>
          <p:cNvPr id="15" name="Text 13"/>
          <p:cNvSpPr/>
          <p:nvPr/>
        </p:nvSpPr>
        <p:spPr>
          <a:xfrm>
            <a:off x="3419856" y="4315968"/>
            <a:ext cx="2103120" cy="502920"/>
          </a:xfrm>
          <a:prstGeom prst="rect">
            <a:avLst/>
          </a:prstGeom>
          <a:noFill/>
          <a:ln/>
        </p:spPr>
        <p:txBody>
          <a:bodyPr wrap="square" lIns="0" tIns="0" rIns="0" bIns="0" rtlCol="0" anchor="t"/>
          <a:lstStyle/>
          <a:p>
            <a:pPr indent="0" marL="0">
              <a:buNone/>
            </a:pPr>
            <a:r>
              <a:rPr lang="en-US" sz="1050" dirty="0">
                <a:solidFill>
                  <a:srgbClr val="12181F"/>
                </a:solidFill>
                <a:latin typeface="Calibri" pitchFamily="34" charset="0"/>
                <a:ea typeface="Calibri" pitchFamily="34" charset="-122"/>
                <a:cs typeface="Calibri" pitchFamily="34" charset="-120"/>
              </a:rPr>
              <a:t>cambiaron los datos pero el modelo aguanta</a:t>
            </a:r>
            <a:endParaRPr lang="en-US" sz="1050" dirty="0"/>
          </a:p>
        </p:txBody>
      </p:sp>
      <p:sp>
        <p:nvSpPr>
          <p:cNvPr id="16" name="Shape 14"/>
          <p:cNvSpPr/>
          <p:nvPr/>
        </p:nvSpPr>
        <p:spPr>
          <a:xfrm>
            <a:off x="566928" y="5029200"/>
            <a:ext cx="2468880" cy="1234440"/>
          </a:xfrm>
          <a:prstGeom prst="roundRect">
            <a:avLst>
              <a:gd name="adj" fmla="val 5926"/>
            </a:avLst>
          </a:prstGeom>
          <a:solidFill>
            <a:srgbClr val="F4F6F9"/>
          </a:solidFill>
          <a:ln w="12700">
            <a:solidFill>
              <a:srgbClr val="E3E8EF"/>
            </a:solidFill>
            <a:prstDash val="solid"/>
          </a:ln>
        </p:spPr>
      </p:sp>
      <p:sp>
        <p:nvSpPr>
          <p:cNvPr id="17" name="Text 15"/>
          <p:cNvSpPr/>
          <p:nvPr/>
        </p:nvSpPr>
        <p:spPr>
          <a:xfrm>
            <a:off x="768096" y="5157216"/>
            <a:ext cx="2103120" cy="274320"/>
          </a:xfrm>
          <a:prstGeom prst="rect">
            <a:avLst/>
          </a:prstGeom>
          <a:noFill/>
          <a:ln/>
        </p:spPr>
        <p:txBody>
          <a:bodyPr wrap="square" lIns="0" tIns="0" rIns="0" bIns="0" rtlCol="0" anchor="ctr"/>
          <a:lstStyle/>
          <a:p>
            <a:pPr indent="0" marL="0">
              <a:buNone/>
            </a:pPr>
            <a:r>
              <a:rPr lang="en-US" sz="1250" b="1" dirty="0">
                <a:solidFill>
                  <a:srgbClr val="2A78D6"/>
                </a:solidFill>
                <a:latin typeface="Calibri" pitchFamily="34" charset="0"/>
                <a:ea typeface="Calibri" pitchFamily="34" charset="-122"/>
                <a:cs typeface="Calibri" pitchFamily="34" charset="-120"/>
              </a:rPr>
              <a:t>REVISAR_DATOS</a:t>
            </a:r>
            <a:endParaRPr lang="en-US" sz="1250" dirty="0"/>
          </a:p>
        </p:txBody>
      </p:sp>
      <p:sp>
        <p:nvSpPr>
          <p:cNvPr id="18" name="Text 16"/>
          <p:cNvSpPr/>
          <p:nvPr/>
        </p:nvSpPr>
        <p:spPr>
          <a:xfrm>
            <a:off x="768096" y="5449824"/>
            <a:ext cx="2103120" cy="237744"/>
          </a:xfrm>
          <a:prstGeom prst="rect">
            <a:avLst/>
          </a:prstGeom>
          <a:noFill/>
          <a:ln/>
        </p:spPr>
        <p:txBody>
          <a:bodyPr wrap="square" lIns="0" tIns="0" rIns="0" bIns="0" rtlCol="0" anchor="ctr"/>
          <a:lstStyle/>
          <a:p>
            <a:pPr indent="0" marL="0">
              <a:buNone/>
            </a:pPr>
            <a:r>
              <a:rPr lang="en-US" sz="1000" dirty="0">
                <a:solidFill>
                  <a:srgbClr val="5C6570"/>
                </a:solidFill>
                <a:latin typeface="Calibri" pitchFamily="34" charset="0"/>
                <a:ea typeface="Calibri" pitchFamily="34" charset="-122"/>
                <a:cs typeface="Calibri" pitchFamily="34" charset="-120"/>
              </a:rPr>
              <a:t>drift no · degradación sí</a:t>
            </a:r>
            <a:endParaRPr lang="en-US" sz="1000" dirty="0"/>
          </a:p>
        </p:txBody>
      </p:sp>
      <p:sp>
        <p:nvSpPr>
          <p:cNvPr id="19" name="Text 17"/>
          <p:cNvSpPr/>
          <p:nvPr/>
        </p:nvSpPr>
        <p:spPr>
          <a:xfrm>
            <a:off x="768096" y="5687568"/>
            <a:ext cx="2103120" cy="502920"/>
          </a:xfrm>
          <a:prstGeom prst="rect">
            <a:avLst/>
          </a:prstGeom>
          <a:noFill/>
          <a:ln/>
        </p:spPr>
        <p:txBody>
          <a:bodyPr wrap="square" lIns="0" tIns="0" rIns="0" bIns="0" rtlCol="0" anchor="t"/>
          <a:lstStyle/>
          <a:p>
            <a:pPr indent="0" marL="0">
              <a:buNone/>
            </a:pPr>
            <a:r>
              <a:rPr lang="en-US" sz="1050" dirty="0">
                <a:solidFill>
                  <a:srgbClr val="12181F"/>
                </a:solidFill>
                <a:latin typeface="Calibri" pitchFamily="34" charset="0"/>
                <a:ea typeface="Calibri" pitchFamily="34" charset="-122"/>
                <a:cs typeface="Calibri" pitchFamily="34" charset="-120"/>
              </a:rPr>
              <a:t>algo pasa que el PSI no ve</a:t>
            </a:r>
            <a:endParaRPr lang="en-US" sz="1050" dirty="0"/>
          </a:p>
        </p:txBody>
      </p:sp>
      <p:sp>
        <p:nvSpPr>
          <p:cNvPr id="20" name="Shape 18"/>
          <p:cNvSpPr/>
          <p:nvPr/>
        </p:nvSpPr>
        <p:spPr>
          <a:xfrm>
            <a:off x="3218688" y="5029200"/>
            <a:ext cx="2468880" cy="1234440"/>
          </a:xfrm>
          <a:prstGeom prst="roundRect">
            <a:avLst>
              <a:gd name="adj" fmla="val 5926"/>
            </a:avLst>
          </a:prstGeom>
          <a:solidFill>
            <a:srgbClr val="F4F6F9"/>
          </a:solidFill>
          <a:ln w="12700">
            <a:solidFill>
              <a:srgbClr val="E3E8EF"/>
            </a:solidFill>
            <a:prstDash val="solid"/>
          </a:ln>
        </p:spPr>
      </p:sp>
      <p:sp>
        <p:nvSpPr>
          <p:cNvPr id="21" name="Text 19"/>
          <p:cNvSpPr/>
          <p:nvPr/>
        </p:nvSpPr>
        <p:spPr>
          <a:xfrm>
            <a:off x="3419856" y="5157216"/>
            <a:ext cx="2103120" cy="274320"/>
          </a:xfrm>
          <a:prstGeom prst="rect">
            <a:avLst/>
          </a:prstGeom>
          <a:noFill/>
          <a:ln/>
        </p:spPr>
        <p:txBody>
          <a:bodyPr wrap="square" lIns="0" tIns="0" rIns="0" bIns="0" rtlCol="0" anchor="ctr"/>
          <a:lstStyle/>
          <a:p>
            <a:pPr indent="0" marL="0">
              <a:buNone/>
            </a:pPr>
            <a:r>
              <a:rPr lang="en-US" sz="1250" b="1" dirty="0">
                <a:solidFill>
                  <a:srgbClr val="1BAF7A"/>
                </a:solidFill>
                <a:latin typeface="Calibri" pitchFamily="34" charset="0"/>
                <a:ea typeface="Calibri" pitchFamily="34" charset="-122"/>
                <a:cs typeface="Calibri" pitchFamily="34" charset="-120"/>
              </a:rPr>
              <a:t>TODO_BIEN</a:t>
            </a:r>
            <a:endParaRPr lang="en-US" sz="1250" dirty="0"/>
          </a:p>
        </p:txBody>
      </p:sp>
      <p:sp>
        <p:nvSpPr>
          <p:cNvPr id="22" name="Text 20"/>
          <p:cNvSpPr/>
          <p:nvPr/>
        </p:nvSpPr>
        <p:spPr>
          <a:xfrm>
            <a:off x="3419856" y="5449824"/>
            <a:ext cx="2103120" cy="237744"/>
          </a:xfrm>
          <a:prstGeom prst="rect">
            <a:avLst/>
          </a:prstGeom>
          <a:noFill/>
          <a:ln/>
        </p:spPr>
        <p:txBody>
          <a:bodyPr wrap="square" lIns="0" tIns="0" rIns="0" bIns="0" rtlCol="0" anchor="ctr"/>
          <a:lstStyle/>
          <a:p>
            <a:pPr indent="0" marL="0">
              <a:buNone/>
            </a:pPr>
            <a:r>
              <a:rPr lang="en-US" sz="1000" dirty="0">
                <a:solidFill>
                  <a:srgbClr val="5C6570"/>
                </a:solidFill>
                <a:latin typeface="Calibri" pitchFamily="34" charset="0"/>
                <a:ea typeface="Calibri" pitchFamily="34" charset="-122"/>
                <a:cs typeface="Calibri" pitchFamily="34" charset="-120"/>
              </a:rPr>
              <a:t>drift no · degradación no</a:t>
            </a:r>
            <a:endParaRPr lang="en-US" sz="1000" dirty="0"/>
          </a:p>
        </p:txBody>
      </p:sp>
      <p:sp>
        <p:nvSpPr>
          <p:cNvPr id="23" name="Text 21"/>
          <p:cNvSpPr/>
          <p:nvPr/>
        </p:nvSpPr>
        <p:spPr>
          <a:xfrm>
            <a:off x="3419856" y="5687568"/>
            <a:ext cx="2103120" cy="502920"/>
          </a:xfrm>
          <a:prstGeom prst="rect">
            <a:avLst/>
          </a:prstGeom>
          <a:noFill/>
          <a:ln/>
        </p:spPr>
        <p:txBody>
          <a:bodyPr wrap="square" lIns="0" tIns="0" rIns="0" bIns="0" rtlCol="0" anchor="t"/>
          <a:lstStyle/>
          <a:p>
            <a:pPr indent="0" marL="0">
              <a:buNone/>
            </a:pPr>
            <a:r>
              <a:rPr lang="en-US" sz="1050" dirty="0">
                <a:solidFill>
                  <a:srgbClr val="12181F"/>
                </a:solidFill>
                <a:latin typeface="Calibri" pitchFamily="34" charset="0"/>
                <a:ea typeface="Calibri" pitchFamily="34" charset="-122"/>
                <a:cs typeface="Calibri" pitchFamily="34" charset="-120"/>
              </a:rPr>
              <a:t>seguir midiendo</a:t>
            </a:r>
            <a:endParaRPr lang="en-US" sz="1050" dirty="0"/>
          </a:p>
        </p:txBody>
      </p:sp>
      <p:sp>
        <p:nvSpPr>
          <p:cNvPr id="24" name="Text 22"/>
          <p:cNvSpPr/>
          <p:nvPr/>
        </p:nvSpPr>
        <p:spPr>
          <a:xfrm>
            <a:off x="6035040" y="1874520"/>
            <a:ext cx="5577840" cy="310896"/>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Lo que decidió con nuestros lotes</a:t>
            </a:r>
            <a:endParaRPr lang="en-US" sz="1400" dirty="0"/>
          </a:p>
        </p:txBody>
      </p:sp>
      <p:sp>
        <p:nvSpPr>
          <p:cNvPr id="25" name="Shape 23"/>
          <p:cNvSpPr/>
          <p:nvPr/>
        </p:nvSpPr>
        <p:spPr>
          <a:xfrm>
            <a:off x="6035040" y="2331720"/>
            <a:ext cx="5577840" cy="548640"/>
          </a:xfrm>
          <a:prstGeom prst="roundRect">
            <a:avLst>
              <a:gd name="adj" fmla="val 13333"/>
            </a:avLst>
          </a:prstGeom>
          <a:solidFill>
            <a:srgbClr val="F4F6F9"/>
          </a:solidFill>
          <a:ln w="12700">
            <a:solidFill>
              <a:srgbClr val="E3E8EF"/>
            </a:solidFill>
            <a:prstDash val="solid"/>
          </a:ln>
        </p:spPr>
      </p:sp>
      <p:sp>
        <p:nvSpPr>
          <p:cNvPr id="26" name="Text 24"/>
          <p:cNvSpPr/>
          <p:nvPr/>
        </p:nvSpPr>
        <p:spPr>
          <a:xfrm>
            <a:off x="6263640" y="2331720"/>
            <a:ext cx="1005840" cy="548640"/>
          </a:xfrm>
          <a:prstGeom prst="rect">
            <a:avLst/>
          </a:prstGeom>
          <a:noFill/>
          <a:ln/>
        </p:spPr>
        <p:txBody>
          <a:bodyPr wrap="square" lIns="0" tIns="0" rIns="0" bIns="0" rtlCol="0" anchor="ctr"/>
          <a:lstStyle/>
          <a:p>
            <a:pPr indent="0" marL="0">
              <a:buNone/>
            </a:pPr>
            <a:r>
              <a:rPr lang="en-US" sz="1250" b="1" dirty="0">
                <a:solidFill>
                  <a:srgbClr val="12181F"/>
                </a:solidFill>
                <a:latin typeface="Calibri" pitchFamily="34" charset="0"/>
                <a:ea typeface="Calibri" pitchFamily="34" charset="-122"/>
                <a:cs typeface="Calibri" pitchFamily="34" charset="-120"/>
              </a:rPr>
              <a:t>batch1</a:t>
            </a:r>
            <a:endParaRPr lang="en-US" sz="1250" dirty="0"/>
          </a:p>
        </p:txBody>
      </p:sp>
      <p:sp>
        <p:nvSpPr>
          <p:cNvPr id="27" name="Text 25"/>
          <p:cNvSpPr/>
          <p:nvPr/>
        </p:nvSpPr>
        <p:spPr>
          <a:xfrm>
            <a:off x="7269480" y="2331720"/>
            <a:ext cx="1371600" cy="54864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PSI 1.671</a:t>
            </a:r>
            <a:endParaRPr lang="en-US" sz="1200" dirty="0"/>
          </a:p>
        </p:txBody>
      </p:sp>
      <p:sp>
        <p:nvSpPr>
          <p:cNvPr id="28" name="Text 26"/>
          <p:cNvSpPr/>
          <p:nvPr/>
        </p:nvSpPr>
        <p:spPr>
          <a:xfrm>
            <a:off x="8641080" y="2331720"/>
            <a:ext cx="1097280" cy="548640"/>
          </a:xfrm>
          <a:prstGeom prst="rect">
            <a:avLst/>
          </a:prstGeom>
          <a:noFill/>
          <a:ln/>
        </p:spPr>
        <p:txBody>
          <a:bodyPr wrap="square" lIns="0" tIns="0" rIns="0" bIns="0" rtlCol="0" anchor="ctr"/>
          <a:lstStyle/>
          <a:p>
            <a:pPr indent="0" marL="0">
              <a:buNone/>
            </a:pPr>
            <a:r>
              <a:rPr lang="en-US" sz="1250" b="1" dirty="0">
                <a:solidFill>
                  <a:srgbClr val="12181F"/>
                </a:solidFill>
                <a:latin typeface="Calibri" pitchFamily="34" charset="0"/>
                <a:ea typeface="Calibri" pitchFamily="34" charset="-122"/>
                <a:cs typeface="Calibri" pitchFamily="34" charset="-120"/>
              </a:rPr>
              <a:t>+88.8%</a:t>
            </a:r>
            <a:endParaRPr lang="en-US" sz="1250" dirty="0"/>
          </a:p>
        </p:txBody>
      </p:sp>
      <p:sp>
        <p:nvSpPr>
          <p:cNvPr id="29" name="Text 27"/>
          <p:cNvSpPr/>
          <p:nvPr/>
        </p:nvSpPr>
        <p:spPr>
          <a:xfrm>
            <a:off x="9784080" y="2331720"/>
            <a:ext cx="1691640" cy="548640"/>
          </a:xfrm>
          <a:prstGeom prst="rect">
            <a:avLst/>
          </a:prstGeom>
          <a:noFill/>
          <a:ln/>
        </p:spPr>
        <p:txBody>
          <a:bodyPr wrap="square" lIns="0" tIns="0" rIns="0" bIns="0" rtlCol="0" anchor="ctr"/>
          <a:lstStyle/>
          <a:p>
            <a:pPr algn="r" indent="0" marL="0">
              <a:buNone/>
            </a:pPr>
            <a:r>
              <a:rPr lang="en-US" sz="1200" b="1" dirty="0">
                <a:solidFill>
                  <a:srgbClr val="EB6834"/>
                </a:solidFill>
                <a:latin typeface="Calibri" pitchFamily="34" charset="0"/>
                <a:ea typeface="Calibri" pitchFamily="34" charset="-122"/>
                <a:cs typeface="Calibri" pitchFamily="34" charset="-120"/>
              </a:rPr>
              <a:t>REENTRENAR</a:t>
            </a:r>
            <a:endParaRPr lang="en-US" sz="1200" dirty="0"/>
          </a:p>
        </p:txBody>
      </p:sp>
      <p:sp>
        <p:nvSpPr>
          <p:cNvPr id="30" name="Shape 28"/>
          <p:cNvSpPr/>
          <p:nvPr/>
        </p:nvSpPr>
        <p:spPr>
          <a:xfrm>
            <a:off x="6035040" y="2990088"/>
            <a:ext cx="5577840" cy="548640"/>
          </a:xfrm>
          <a:prstGeom prst="roundRect">
            <a:avLst>
              <a:gd name="adj" fmla="val 13333"/>
            </a:avLst>
          </a:prstGeom>
          <a:solidFill>
            <a:srgbClr val="F4F6F9"/>
          </a:solidFill>
          <a:ln w="12700">
            <a:solidFill>
              <a:srgbClr val="E3E8EF"/>
            </a:solidFill>
            <a:prstDash val="solid"/>
          </a:ln>
        </p:spPr>
      </p:sp>
      <p:sp>
        <p:nvSpPr>
          <p:cNvPr id="31" name="Text 29"/>
          <p:cNvSpPr/>
          <p:nvPr/>
        </p:nvSpPr>
        <p:spPr>
          <a:xfrm>
            <a:off x="6263640" y="2990088"/>
            <a:ext cx="1005840" cy="548640"/>
          </a:xfrm>
          <a:prstGeom prst="rect">
            <a:avLst/>
          </a:prstGeom>
          <a:noFill/>
          <a:ln/>
        </p:spPr>
        <p:txBody>
          <a:bodyPr wrap="square" lIns="0" tIns="0" rIns="0" bIns="0" rtlCol="0" anchor="ctr"/>
          <a:lstStyle/>
          <a:p>
            <a:pPr indent="0" marL="0">
              <a:buNone/>
            </a:pPr>
            <a:r>
              <a:rPr lang="en-US" sz="1250" b="1" dirty="0">
                <a:solidFill>
                  <a:srgbClr val="12181F"/>
                </a:solidFill>
                <a:latin typeface="Calibri" pitchFamily="34" charset="0"/>
                <a:ea typeface="Calibri" pitchFamily="34" charset="-122"/>
                <a:cs typeface="Calibri" pitchFamily="34" charset="-120"/>
              </a:rPr>
              <a:t>batch2</a:t>
            </a:r>
            <a:endParaRPr lang="en-US" sz="1250" dirty="0"/>
          </a:p>
        </p:txBody>
      </p:sp>
      <p:sp>
        <p:nvSpPr>
          <p:cNvPr id="32" name="Text 30"/>
          <p:cNvSpPr/>
          <p:nvPr/>
        </p:nvSpPr>
        <p:spPr>
          <a:xfrm>
            <a:off x="7269480" y="2990088"/>
            <a:ext cx="1371600" cy="54864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PSI 6.175</a:t>
            </a:r>
            <a:endParaRPr lang="en-US" sz="1200" dirty="0"/>
          </a:p>
        </p:txBody>
      </p:sp>
      <p:sp>
        <p:nvSpPr>
          <p:cNvPr id="33" name="Text 31"/>
          <p:cNvSpPr/>
          <p:nvPr/>
        </p:nvSpPr>
        <p:spPr>
          <a:xfrm>
            <a:off x="8641080" y="2990088"/>
            <a:ext cx="1097280" cy="548640"/>
          </a:xfrm>
          <a:prstGeom prst="rect">
            <a:avLst/>
          </a:prstGeom>
          <a:noFill/>
          <a:ln/>
        </p:spPr>
        <p:txBody>
          <a:bodyPr wrap="square" lIns="0" tIns="0" rIns="0" bIns="0" rtlCol="0" anchor="ctr"/>
          <a:lstStyle/>
          <a:p>
            <a:pPr indent="0" marL="0">
              <a:buNone/>
            </a:pPr>
            <a:r>
              <a:rPr lang="en-US" sz="1250" b="1" dirty="0">
                <a:solidFill>
                  <a:srgbClr val="12181F"/>
                </a:solidFill>
                <a:latin typeface="Calibri" pitchFamily="34" charset="0"/>
                <a:ea typeface="Calibri" pitchFamily="34" charset="-122"/>
                <a:cs typeface="Calibri" pitchFamily="34" charset="-120"/>
              </a:rPr>
              <a:t>+51.1%</a:t>
            </a:r>
            <a:endParaRPr lang="en-US" sz="1250" dirty="0"/>
          </a:p>
        </p:txBody>
      </p:sp>
      <p:sp>
        <p:nvSpPr>
          <p:cNvPr id="34" name="Text 32"/>
          <p:cNvSpPr/>
          <p:nvPr/>
        </p:nvSpPr>
        <p:spPr>
          <a:xfrm>
            <a:off x="9784080" y="2990088"/>
            <a:ext cx="1691640" cy="548640"/>
          </a:xfrm>
          <a:prstGeom prst="rect">
            <a:avLst/>
          </a:prstGeom>
          <a:noFill/>
          <a:ln/>
        </p:spPr>
        <p:txBody>
          <a:bodyPr wrap="square" lIns="0" tIns="0" rIns="0" bIns="0" rtlCol="0" anchor="ctr"/>
          <a:lstStyle/>
          <a:p>
            <a:pPr algn="r" indent="0" marL="0">
              <a:buNone/>
            </a:pPr>
            <a:r>
              <a:rPr lang="en-US" sz="1200" b="1" dirty="0">
                <a:solidFill>
                  <a:srgbClr val="EB6834"/>
                </a:solidFill>
                <a:latin typeface="Calibri" pitchFamily="34" charset="0"/>
                <a:ea typeface="Calibri" pitchFamily="34" charset="-122"/>
                <a:cs typeface="Calibri" pitchFamily="34" charset="-120"/>
              </a:rPr>
              <a:t>REENTRENAR</a:t>
            </a:r>
            <a:endParaRPr lang="en-US" sz="1200" dirty="0"/>
          </a:p>
        </p:txBody>
      </p:sp>
      <p:sp>
        <p:nvSpPr>
          <p:cNvPr id="35" name="Shape 33"/>
          <p:cNvSpPr/>
          <p:nvPr/>
        </p:nvSpPr>
        <p:spPr>
          <a:xfrm>
            <a:off x="6035040" y="3648456"/>
            <a:ext cx="5577840" cy="548640"/>
          </a:xfrm>
          <a:prstGeom prst="roundRect">
            <a:avLst>
              <a:gd name="adj" fmla="val 13333"/>
            </a:avLst>
          </a:prstGeom>
          <a:solidFill>
            <a:srgbClr val="F4F6F9"/>
          </a:solidFill>
          <a:ln w="12700">
            <a:solidFill>
              <a:srgbClr val="E3E8EF"/>
            </a:solidFill>
            <a:prstDash val="solid"/>
          </a:ln>
        </p:spPr>
      </p:sp>
      <p:sp>
        <p:nvSpPr>
          <p:cNvPr id="36" name="Text 34"/>
          <p:cNvSpPr/>
          <p:nvPr/>
        </p:nvSpPr>
        <p:spPr>
          <a:xfrm>
            <a:off x="6263640" y="3648456"/>
            <a:ext cx="1005840" cy="548640"/>
          </a:xfrm>
          <a:prstGeom prst="rect">
            <a:avLst/>
          </a:prstGeom>
          <a:noFill/>
          <a:ln/>
        </p:spPr>
        <p:txBody>
          <a:bodyPr wrap="square" lIns="0" tIns="0" rIns="0" bIns="0" rtlCol="0" anchor="ctr"/>
          <a:lstStyle/>
          <a:p>
            <a:pPr indent="0" marL="0">
              <a:buNone/>
            </a:pPr>
            <a:r>
              <a:rPr lang="en-US" sz="1250" b="1" dirty="0">
                <a:solidFill>
                  <a:srgbClr val="12181F"/>
                </a:solidFill>
                <a:latin typeface="Calibri" pitchFamily="34" charset="0"/>
                <a:ea typeface="Calibri" pitchFamily="34" charset="-122"/>
                <a:cs typeface="Calibri" pitchFamily="34" charset="-120"/>
              </a:rPr>
              <a:t>batch3</a:t>
            </a:r>
            <a:endParaRPr lang="en-US" sz="1250" dirty="0"/>
          </a:p>
        </p:txBody>
      </p:sp>
      <p:sp>
        <p:nvSpPr>
          <p:cNvPr id="37" name="Text 35"/>
          <p:cNvSpPr/>
          <p:nvPr/>
        </p:nvSpPr>
        <p:spPr>
          <a:xfrm>
            <a:off x="7269480" y="3648456"/>
            <a:ext cx="1371600" cy="54864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PSI 3.265</a:t>
            </a:r>
            <a:endParaRPr lang="en-US" sz="1200" dirty="0"/>
          </a:p>
        </p:txBody>
      </p:sp>
      <p:sp>
        <p:nvSpPr>
          <p:cNvPr id="38" name="Text 36"/>
          <p:cNvSpPr/>
          <p:nvPr/>
        </p:nvSpPr>
        <p:spPr>
          <a:xfrm>
            <a:off x="8641080" y="3648456"/>
            <a:ext cx="1097280" cy="548640"/>
          </a:xfrm>
          <a:prstGeom prst="rect">
            <a:avLst/>
          </a:prstGeom>
          <a:noFill/>
          <a:ln/>
        </p:spPr>
        <p:txBody>
          <a:bodyPr wrap="square" lIns="0" tIns="0" rIns="0" bIns="0" rtlCol="0" anchor="ctr"/>
          <a:lstStyle/>
          <a:p>
            <a:pPr indent="0" marL="0">
              <a:buNone/>
            </a:pPr>
            <a:r>
              <a:rPr lang="en-US" sz="1250" b="1" dirty="0">
                <a:solidFill>
                  <a:srgbClr val="12181F"/>
                </a:solidFill>
                <a:latin typeface="Calibri" pitchFamily="34" charset="0"/>
                <a:ea typeface="Calibri" pitchFamily="34" charset="-122"/>
                <a:cs typeface="Calibri" pitchFamily="34" charset="-120"/>
              </a:rPr>
              <a:t>−3.4%</a:t>
            </a:r>
            <a:endParaRPr lang="en-US" sz="1250" dirty="0"/>
          </a:p>
        </p:txBody>
      </p:sp>
      <p:sp>
        <p:nvSpPr>
          <p:cNvPr id="39" name="Text 37"/>
          <p:cNvSpPr/>
          <p:nvPr/>
        </p:nvSpPr>
        <p:spPr>
          <a:xfrm>
            <a:off x="9784080" y="3648456"/>
            <a:ext cx="1691640" cy="548640"/>
          </a:xfrm>
          <a:prstGeom prst="rect">
            <a:avLst/>
          </a:prstGeom>
          <a:noFill/>
          <a:ln/>
        </p:spPr>
        <p:txBody>
          <a:bodyPr wrap="square" lIns="0" tIns="0" rIns="0" bIns="0" rtlCol="0" anchor="ctr"/>
          <a:lstStyle/>
          <a:p>
            <a:pPr algn="r" indent="0" marL="0">
              <a:buNone/>
            </a:pPr>
            <a:r>
              <a:rPr lang="en-US" sz="1200" b="1" dirty="0">
                <a:solidFill>
                  <a:srgbClr val="2A78D6"/>
                </a:solidFill>
                <a:latin typeface="Calibri" pitchFamily="34" charset="0"/>
                <a:ea typeface="Calibri" pitchFamily="34" charset="-122"/>
                <a:cs typeface="Calibri" pitchFamily="34" charset="-120"/>
              </a:rPr>
              <a:t>VIGILAR</a:t>
            </a:r>
            <a:endParaRPr lang="en-US" sz="1200" dirty="0"/>
          </a:p>
        </p:txBody>
      </p:sp>
      <p:sp>
        <p:nvSpPr>
          <p:cNvPr id="40" name="Shape 38"/>
          <p:cNvSpPr/>
          <p:nvPr/>
        </p:nvSpPr>
        <p:spPr>
          <a:xfrm>
            <a:off x="6035040" y="4206240"/>
            <a:ext cx="5577840" cy="2148840"/>
          </a:xfrm>
          <a:prstGeom prst="roundRect">
            <a:avLst>
              <a:gd name="adj" fmla="val 3404"/>
            </a:avLst>
          </a:prstGeom>
          <a:solidFill>
            <a:srgbClr val="F4F6F9"/>
          </a:solidFill>
          <a:ln w="12700">
            <a:solidFill>
              <a:srgbClr val="E3E8EF"/>
            </a:solidFill>
            <a:prstDash val="solid"/>
          </a:ln>
        </p:spPr>
      </p:sp>
      <p:sp>
        <p:nvSpPr>
          <p:cNvPr id="41" name="Text 39"/>
          <p:cNvSpPr/>
          <p:nvPr/>
        </p:nvSpPr>
        <p:spPr>
          <a:xfrm>
            <a:off x="6327648" y="4389120"/>
            <a:ext cx="5029200" cy="310896"/>
          </a:xfrm>
          <a:prstGeom prst="rect">
            <a:avLst/>
          </a:prstGeom>
          <a:noFill/>
          <a:ln/>
        </p:spPr>
        <p:txBody>
          <a:bodyPr wrap="square" lIns="0" tIns="0" rIns="0" bIns="0" rtlCol="0" anchor="ctr"/>
          <a:lstStyle/>
          <a:p>
            <a:pPr indent="0" marL="0">
              <a:buNone/>
            </a:pPr>
            <a:r>
              <a:rPr lang="en-US" sz="1350" b="1" dirty="0">
                <a:solidFill>
                  <a:srgbClr val="EB6834"/>
                </a:solidFill>
                <a:latin typeface="Calibri" pitchFamily="34" charset="0"/>
                <a:ea typeface="Calibri" pitchFamily="34" charset="-122"/>
                <a:cs typeface="Calibri" pitchFamily="34" charset="-120"/>
              </a:rPr>
              <a:t>El disparo no es automático, y es a propósito</a:t>
            </a:r>
            <a:endParaRPr lang="en-US" sz="1350" dirty="0"/>
          </a:p>
        </p:txBody>
      </p:sp>
      <p:sp>
        <p:nvSpPr>
          <p:cNvPr id="42" name="Text 40"/>
          <p:cNvSpPr/>
          <p:nvPr/>
        </p:nvSpPr>
        <p:spPr>
          <a:xfrm>
            <a:off x="6327648" y="4773168"/>
            <a:ext cx="5029200" cy="155448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Cuando el sistema dice REENTRENAR queda registrado en el log y en el reporte, pero el entrenamiento lo lanzamos nosotras.</a:t>
            </a:r>
            <a:endParaRPr lang="en-US" sz="1250" dirty="0"/>
          </a:p>
          <a:p>
            <a:pPr indent="0" marL="0">
              <a:buNone/>
            </a:pPr>
            <a:endParaRPr lang="en-US" sz="1250" dirty="0"/>
          </a:p>
          <a:p>
            <a:pPr indent="0" marL="0">
              <a:buNone/>
            </a:pPr>
            <a:r>
              <a:rPr lang="en-US" sz="1250" dirty="0">
                <a:solidFill>
                  <a:srgbClr val="12181F"/>
                </a:solidFill>
                <a:latin typeface="Calibri" pitchFamily="34" charset="0"/>
                <a:ea typeface="Calibri" pitchFamily="34" charset="-122"/>
                <a:cs typeface="Calibri" pitchFamily="34" charset="-120"/>
              </a:rPr>
              <a:t>Con un solo modelo y trece meses de historia, un reentrenamiento automático puede reemplazar un modelo bueno por uno peor sin que nadie se entere.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Pruebas y simulación de problemas</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Fabricamos los defectos a propósito para comprobar que el sistema los agarra</a:t>
            </a:r>
            <a:endParaRPr lang="en-US" sz="1400" dirty="0"/>
          </a:p>
        </p:txBody>
      </p:sp>
      <p:sp>
        <p:nvSpPr>
          <p:cNvPr id="6" name="Shape 4"/>
          <p:cNvSpPr/>
          <p:nvPr/>
        </p:nvSpPr>
        <p:spPr>
          <a:xfrm>
            <a:off x="566928" y="1691640"/>
            <a:ext cx="1737360" cy="1645920"/>
          </a:xfrm>
          <a:prstGeom prst="roundRect">
            <a:avLst>
              <a:gd name="adj" fmla="val 4444"/>
            </a:avLst>
          </a:prstGeom>
          <a:solidFill>
            <a:srgbClr val="F4F6F9"/>
          </a:solidFill>
          <a:ln w="12700">
            <a:solidFill>
              <a:srgbClr val="E3E8EF"/>
            </a:solidFill>
            <a:prstDash val="solid"/>
          </a:ln>
        </p:spPr>
      </p:sp>
      <p:sp>
        <p:nvSpPr>
          <p:cNvPr id="7" name="Text 5"/>
          <p:cNvSpPr/>
          <p:nvPr/>
        </p:nvSpPr>
        <p:spPr>
          <a:xfrm>
            <a:off x="566928" y="1828800"/>
            <a:ext cx="1737360" cy="658368"/>
          </a:xfrm>
          <a:prstGeom prst="rect">
            <a:avLst/>
          </a:prstGeom>
          <a:noFill/>
          <a:ln/>
        </p:spPr>
        <p:txBody>
          <a:bodyPr wrap="square" lIns="0" tIns="0" rIns="0" bIns="0" rtlCol="0" anchor="ctr"/>
          <a:lstStyle/>
          <a:p>
            <a:pPr algn="ctr" indent="0" marL="0">
              <a:buNone/>
            </a:pPr>
            <a:r>
              <a:rPr lang="en-US" sz="3800" b="1" dirty="0">
                <a:solidFill>
                  <a:srgbClr val="2A78D6"/>
                </a:solidFill>
                <a:latin typeface="Cambria" pitchFamily="34" charset="0"/>
                <a:ea typeface="Cambria" pitchFamily="34" charset="-122"/>
                <a:cs typeface="Cambria" pitchFamily="34" charset="-120"/>
              </a:rPr>
              <a:t>19</a:t>
            </a:r>
            <a:endParaRPr lang="en-US" sz="3800" dirty="0"/>
          </a:p>
        </p:txBody>
      </p:sp>
      <p:sp>
        <p:nvSpPr>
          <p:cNvPr id="8" name="Text 6"/>
          <p:cNvSpPr/>
          <p:nvPr/>
        </p:nvSpPr>
        <p:spPr>
          <a:xfrm>
            <a:off x="566928" y="2487168"/>
            <a:ext cx="1737360"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pruebas de variables</a:t>
            </a:r>
            <a:endParaRPr lang="en-US" sz="1100" dirty="0"/>
          </a:p>
          <a:p>
            <a:pPr algn="ctr" indent="0" marL="0">
              <a:buNone/>
            </a:pPr>
            <a:r>
              <a:rPr lang="en-US" sz="1100" dirty="0">
                <a:solidFill>
                  <a:srgbClr val="5C6570"/>
                </a:solidFill>
                <a:latin typeface="Calibri" pitchFamily="34" charset="0"/>
                <a:ea typeface="Calibri" pitchFamily="34" charset="-122"/>
                <a:cs typeface="Calibri" pitchFamily="34" charset="-120"/>
              </a:rPr>
              <a:t>y anti-leakage</a:t>
            </a:r>
            <a:endParaRPr lang="en-US" sz="1100" dirty="0"/>
          </a:p>
        </p:txBody>
      </p:sp>
      <p:sp>
        <p:nvSpPr>
          <p:cNvPr id="9" name="Shape 7"/>
          <p:cNvSpPr/>
          <p:nvPr/>
        </p:nvSpPr>
        <p:spPr>
          <a:xfrm>
            <a:off x="2441448" y="1691640"/>
            <a:ext cx="1737360" cy="1645920"/>
          </a:xfrm>
          <a:prstGeom prst="roundRect">
            <a:avLst>
              <a:gd name="adj" fmla="val 4444"/>
            </a:avLst>
          </a:prstGeom>
          <a:solidFill>
            <a:srgbClr val="F4F6F9"/>
          </a:solidFill>
          <a:ln w="12700">
            <a:solidFill>
              <a:srgbClr val="E3E8EF"/>
            </a:solidFill>
            <a:prstDash val="solid"/>
          </a:ln>
        </p:spPr>
      </p:sp>
      <p:sp>
        <p:nvSpPr>
          <p:cNvPr id="10" name="Text 8"/>
          <p:cNvSpPr/>
          <p:nvPr/>
        </p:nvSpPr>
        <p:spPr>
          <a:xfrm>
            <a:off x="2441448" y="1828800"/>
            <a:ext cx="1737360" cy="658368"/>
          </a:xfrm>
          <a:prstGeom prst="rect">
            <a:avLst/>
          </a:prstGeom>
          <a:noFill/>
          <a:ln/>
        </p:spPr>
        <p:txBody>
          <a:bodyPr wrap="square" lIns="0" tIns="0" rIns="0" bIns="0" rtlCol="0" anchor="ctr"/>
          <a:lstStyle/>
          <a:p>
            <a:pPr algn="ctr" indent="0" marL="0">
              <a:buNone/>
            </a:pPr>
            <a:r>
              <a:rPr lang="en-US" sz="3800" b="1" dirty="0">
                <a:solidFill>
                  <a:srgbClr val="2A78D6"/>
                </a:solidFill>
                <a:latin typeface="Cambria" pitchFamily="34" charset="0"/>
                <a:ea typeface="Cambria" pitchFamily="34" charset="-122"/>
                <a:cs typeface="Cambria" pitchFamily="34" charset="-120"/>
              </a:rPr>
              <a:t>17</a:t>
            </a:r>
            <a:endParaRPr lang="en-US" sz="3800" dirty="0"/>
          </a:p>
        </p:txBody>
      </p:sp>
      <p:sp>
        <p:nvSpPr>
          <p:cNvPr id="11" name="Text 9"/>
          <p:cNvSpPr/>
          <p:nvPr/>
        </p:nvSpPr>
        <p:spPr>
          <a:xfrm>
            <a:off x="2441448" y="2487168"/>
            <a:ext cx="1737360"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pruebas de la API</a:t>
            </a:r>
            <a:endParaRPr lang="en-US" sz="1100" dirty="0"/>
          </a:p>
        </p:txBody>
      </p:sp>
      <p:sp>
        <p:nvSpPr>
          <p:cNvPr id="12" name="Shape 10"/>
          <p:cNvSpPr/>
          <p:nvPr/>
        </p:nvSpPr>
        <p:spPr>
          <a:xfrm>
            <a:off x="4315968" y="1691640"/>
            <a:ext cx="1737360" cy="1645920"/>
          </a:xfrm>
          <a:prstGeom prst="roundRect">
            <a:avLst>
              <a:gd name="adj" fmla="val 4444"/>
            </a:avLst>
          </a:prstGeom>
          <a:solidFill>
            <a:srgbClr val="F4F6F9"/>
          </a:solidFill>
          <a:ln w="12700">
            <a:solidFill>
              <a:srgbClr val="E3E8EF"/>
            </a:solidFill>
            <a:prstDash val="solid"/>
          </a:ln>
        </p:spPr>
      </p:sp>
      <p:sp>
        <p:nvSpPr>
          <p:cNvPr id="13" name="Text 11"/>
          <p:cNvSpPr/>
          <p:nvPr/>
        </p:nvSpPr>
        <p:spPr>
          <a:xfrm>
            <a:off x="4315968" y="1828800"/>
            <a:ext cx="1737360" cy="658368"/>
          </a:xfrm>
          <a:prstGeom prst="rect">
            <a:avLst/>
          </a:prstGeom>
          <a:noFill/>
          <a:ln/>
        </p:spPr>
        <p:txBody>
          <a:bodyPr wrap="square" lIns="0" tIns="0" rIns="0" bIns="0" rtlCol="0" anchor="ctr"/>
          <a:lstStyle/>
          <a:p>
            <a:pPr algn="ctr" indent="0" marL="0">
              <a:buNone/>
            </a:pPr>
            <a:r>
              <a:rPr lang="en-US" sz="3800" b="1" dirty="0">
                <a:solidFill>
                  <a:srgbClr val="1BAF7A"/>
                </a:solidFill>
                <a:latin typeface="Cambria" pitchFamily="34" charset="0"/>
                <a:ea typeface="Cambria" pitchFamily="34" charset="-122"/>
                <a:cs typeface="Cambria" pitchFamily="34" charset="-120"/>
              </a:rPr>
              <a:t>20</a:t>
            </a:r>
            <a:endParaRPr lang="en-US" sz="3800" dirty="0"/>
          </a:p>
        </p:txBody>
      </p:sp>
      <p:sp>
        <p:nvSpPr>
          <p:cNvPr id="14" name="Text 12"/>
          <p:cNvSpPr/>
          <p:nvPr/>
        </p:nvSpPr>
        <p:spPr>
          <a:xfrm>
            <a:off x="4315968" y="2487168"/>
            <a:ext cx="1737360" cy="457200"/>
          </a:xfrm>
          <a:prstGeom prst="rect">
            <a:avLst/>
          </a:prstGeom>
          <a:noFill/>
          <a:ln/>
        </p:spPr>
        <p:txBody>
          <a:bodyPr wrap="square" lIns="0" tIns="0" rIns="0" bIns="0" rtlCol="0" anchor="t"/>
          <a:lstStyle/>
          <a:p>
            <a:pPr algn="ctr" indent="0" marL="0">
              <a:buNone/>
            </a:pPr>
            <a:r>
              <a:rPr lang="en-US" sz="1100" dirty="0">
                <a:solidFill>
                  <a:srgbClr val="5C6570"/>
                </a:solidFill>
                <a:latin typeface="Calibri" pitchFamily="34" charset="0"/>
                <a:ea typeface="Calibri" pitchFamily="34" charset="-122"/>
                <a:cs typeface="Calibri" pitchFamily="34" charset="-120"/>
              </a:rPr>
              <a:t>pruebas del monitoreo</a:t>
            </a:r>
            <a:endParaRPr lang="en-US" sz="1100" dirty="0"/>
          </a:p>
        </p:txBody>
      </p:sp>
      <p:sp>
        <p:nvSpPr>
          <p:cNvPr id="15" name="Text 13"/>
          <p:cNvSpPr/>
          <p:nvPr/>
        </p:nvSpPr>
        <p:spPr>
          <a:xfrm>
            <a:off x="566928" y="3520440"/>
            <a:ext cx="5394960" cy="365760"/>
          </a:xfrm>
          <a:prstGeom prst="rect">
            <a:avLst/>
          </a:prstGeom>
          <a:noFill/>
          <a:ln/>
        </p:spPr>
        <p:txBody>
          <a:bodyPr wrap="square" lIns="0" tIns="0" rIns="0" bIns="0" rtlCol="0" anchor="ctr"/>
          <a:lstStyle/>
          <a:p>
            <a:pPr indent="0" marL="0">
              <a:buNone/>
            </a:pPr>
            <a:r>
              <a:rPr lang="en-US" sz="1800" b="1" dirty="0">
                <a:solidFill>
                  <a:srgbClr val="12181F"/>
                </a:solidFill>
                <a:latin typeface="Cambria" pitchFamily="34" charset="0"/>
                <a:ea typeface="Cambria" pitchFamily="34" charset="-122"/>
                <a:cs typeface="Cambria" pitchFamily="34" charset="-120"/>
              </a:rPr>
              <a:t>56 pruebas, todas pasando</a:t>
            </a:r>
            <a:endParaRPr lang="en-US" sz="1800" dirty="0"/>
          </a:p>
        </p:txBody>
      </p:sp>
      <p:sp>
        <p:nvSpPr>
          <p:cNvPr id="16" name="Text 14"/>
          <p:cNvSpPr/>
          <p:nvPr/>
        </p:nvSpPr>
        <p:spPr>
          <a:xfrm>
            <a:off x="566928" y="3950208"/>
            <a:ext cx="5394960" cy="100584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La que más nos importa es test_no_reentrena_solo_por_drift: reproduce el caso del lote 3 y falla si el sistema decidiera reentrenar. Si esa prueba se pusiera en rojo, estaríamos botando modelos que funcionan.</a:t>
            </a:r>
            <a:endParaRPr lang="en-US" sz="1250" dirty="0"/>
          </a:p>
        </p:txBody>
      </p:sp>
      <p:sp>
        <p:nvSpPr>
          <p:cNvPr id="17" name="Shape 15"/>
          <p:cNvSpPr/>
          <p:nvPr/>
        </p:nvSpPr>
        <p:spPr>
          <a:xfrm>
            <a:off x="566928" y="5074920"/>
            <a:ext cx="5394960" cy="1280160"/>
          </a:xfrm>
          <a:prstGeom prst="roundRect">
            <a:avLst>
              <a:gd name="adj" fmla="val 5714"/>
            </a:avLst>
          </a:prstGeom>
          <a:solidFill>
            <a:srgbClr val="F4F6F9"/>
          </a:solidFill>
          <a:ln w="12700">
            <a:solidFill>
              <a:srgbClr val="E3E8EF"/>
            </a:solidFill>
            <a:prstDash val="solid"/>
          </a:ln>
        </p:spPr>
      </p:sp>
      <p:sp>
        <p:nvSpPr>
          <p:cNvPr id="18" name="Text 16"/>
          <p:cNvSpPr/>
          <p:nvPr/>
        </p:nvSpPr>
        <p:spPr>
          <a:xfrm>
            <a:off x="841248" y="5074920"/>
            <a:ext cx="4846320" cy="1280160"/>
          </a:xfrm>
          <a:prstGeom prst="rect">
            <a:avLst/>
          </a:prstGeom>
          <a:noFill/>
          <a:ln/>
        </p:spPr>
        <p:txBody>
          <a:bodyPr wrap="square" lIns="0" tIns="0" rIns="0" bIns="0" rtlCol="0" anchor="ctr"/>
          <a:lstStyle/>
          <a:p>
            <a:pPr indent="0" marL="0">
              <a:buNone/>
            </a:pPr>
            <a:r>
              <a:rPr lang="en-US" sz="1250" dirty="0">
                <a:solidFill>
                  <a:srgbClr val="12181F"/>
                </a:solidFill>
                <a:latin typeface="Calibri" pitchFamily="34" charset="0"/>
                <a:ea typeface="Calibri" pitchFamily="34" charset="-122"/>
                <a:cs typeface="Calibri" pitchFamily="34" charset="-120"/>
              </a:rPr>
              <a:t>Las de leakage protegen la decisión de diseño más importante: comprueban que ningún rezago menor que el horizonte pueda generarse.</a:t>
            </a:r>
            <a:endParaRPr lang="en-US" sz="1250" dirty="0"/>
          </a:p>
        </p:txBody>
      </p:sp>
      <p:sp>
        <p:nvSpPr>
          <p:cNvPr id="19" name="Text 17"/>
          <p:cNvSpPr/>
          <p:nvPr/>
        </p:nvSpPr>
        <p:spPr>
          <a:xfrm>
            <a:off x="6309360" y="1874520"/>
            <a:ext cx="5303520" cy="310896"/>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Seis daños a una copia en memoria</a:t>
            </a:r>
            <a:endParaRPr lang="en-US" sz="1400" dirty="0"/>
          </a:p>
        </p:txBody>
      </p:sp>
      <p:sp>
        <p:nvSpPr>
          <p:cNvPr id="20" name="Text 18"/>
          <p:cNvSpPr/>
          <p:nvPr/>
        </p:nvSpPr>
        <p:spPr>
          <a:xfrm>
            <a:off x="6309360" y="2286000"/>
            <a:ext cx="5303520" cy="640080"/>
          </a:xfrm>
          <a:prstGeom prst="rect">
            <a:avLst/>
          </a:prstGeom>
          <a:noFill/>
          <a:ln/>
        </p:spPr>
        <p:txBody>
          <a:bodyPr wrap="square" lIns="0" tIns="0" rIns="0" bIns="0" rtlCol="0" anchor="t"/>
          <a:lstStyle/>
          <a:p>
            <a:pPr indent="0" marL="0">
              <a:lnSpc>
                <a:spcPts val="1800"/>
              </a:lnSpc>
              <a:buNone/>
            </a:pPr>
            <a:r>
              <a:rPr lang="en-US" sz="1250" dirty="0">
                <a:solidFill>
                  <a:srgbClr val="12181F"/>
                </a:solidFill>
                <a:latin typeface="Calibri" pitchFamily="34" charset="0"/>
                <a:ea typeface="Calibri" pitchFamily="34" charset="-122"/>
                <a:cs typeface="Calibri" pitchFamily="34" charset="-120"/>
              </a:rPr>
              <a:t>faltantes · duplicados · valor absurdo</a:t>
            </a:r>
            <a:endParaRPr lang="en-US" sz="1250" dirty="0"/>
          </a:p>
          <a:p>
            <a:pPr indent="0" marL="0">
              <a:lnSpc>
                <a:spcPts val="1800"/>
              </a:lnSpc>
              <a:buNone/>
            </a:pPr>
            <a:r>
              <a:rPr lang="en-US" sz="1250" dirty="0">
                <a:solidFill>
                  <a:srgbClr val="12181F"/>
                </a:solidFill>
                <a:latin typeface="Calibri" pitchFamily="34" charset="0"/>
                <a:ea typeface="Calibri" pitchFamily="34" charset="-122"/>
                <a:cs typeface="Calibri" pitchFamily="34" charset="-120"/>
              </a:rPr>
              <a:t>tipo incorrecto · categoría desconocida · cambio de esquema</a:t>
            </a:r>
            <a:endParaRPr lang="en-US" sz="1250" dirty="0"/>
          </a:p>
        </p:txBody>
      </p:sp>
      <p:sp>
        <p:nvSpPr>
          <p:cNvPr id="21" name="Shape 19"/>
          <p:cNvSpPr/>
          <p:nvPr/>
        </p:nvSpPr>
        <p:spPr>
          <a:xfrm>
            <a:off x="6309360" y="2743200"/>
            <a:ext cx="5303520" cy="1371600"/>
          </a:xfrm>
          <a:prstGeom prst="roundRect">
            <a:avLst>
              <a:gd name="adj" fmla="val 5333"/>
            </a:avLst>
          </a:prstGeom>
          <a:solidFill>
            <a:srgbClr val="F4F6F9"/>
          </a:solidFill>
          <a:ln w="12700">
            <a:solidFill>
              <a:srgbClr val="E3E8EF"/>
            </a:solidFill>
            <a:prstDash val="solid"/>
          </a:ln>
        </p:spPr>
      </p:sp>
      <p:sp>
        <p:nvSpPr>
          <p:cNvPr id="22" name="Text 20"/>
          <p:cNvSpPr/>
          <p:nvPr/>
        </p:nvSpPr>
        <p:spPr>
          <a:xfrm>
            <a:off x="6583680" y="2880360"/>
            <a:ext cx="4754880" cy="1097280"/>
          </a:xfrm>
          <a:prstGeom prst="rect">
            <a:avLst/>
          </a:prstGeom>
          <a:noFill/>
          <a:ln/>
        </p:spPr>
        <p:txBody>
          <a:bodyPr wrap="square" lIns="0" tIns="0" rIns="0" bIns="0" rtlCol="0" anchor="ctr"/>
          <a:lstStyle/>
          <a:p>
            <a:pPr indent="0" marL="0">
              <a:buNone/>
            </a:pPr>
            <a:r>
              <a:rPr lang="en-US" sz="1250" dirty="0">
                <a:solidFill>
                  <a:srgbClr val="12181F"/>
                </a:solidFill>
                <a:latin typeface="Calibri" pitchFamily="34" charset="0"/>
                <a:ea typeface="Calibri" pitchFamily="34" charset="-122"/>
                <a:cs typeface="Calibri" pitchFamily="34" charset="-120"/>
              </a:rPr>
              <a:t>6 de 7 reglas fallaron  ·  pipeline bloqueado  ·  dataset intacto</a:t>
            </a:r>
            <a:endParaRPr lang="en-US" sz="1250" dirty="0"/>
          </a:p>
          <a:p>
            <a:pPr indent="0" marL="0">
              <a:buNone/>
            </a:pPr>
            <a:r>
              <a:rPr lang="en-US" sz="1250" dirty="0">
                <a:solidFill>
                  <a:srgbClr val="12181F"/>
                </a:solidFill>
                <a:latin typeface="Calibri" pitchFamily="34" charset="0"/>
                <a:ea typeface="Calibri" pitchFamily="34" charset="-122"/>
                <a:cs typeface="Calibri" pitchFamily="34" charset="-120"/>
              </a:rPr>
              <a:t>el md5 del archivo original es el mismo antes y después</a:t>
            </a:r>
            <a:endParaRPr lang="en-US" sz="1250" dirty="0"/>
          </a:p>
        </p:txBody>
      </p:sp>
      <p:sp>
        <p:nvSpPr>
          <p:cNvPr id="23" name="Shape 21"/>
          <p:cNvSpPr/>
          <p:nvPr/>
        </p:nvSpPr>
        <p:spPr>
          <a:xfrm>
            <a:off x="6309360" y="4297680"/>
            <a:ext cx="5303520" cy="2057400"/>
          </a:xfrm>
          <a:prstGeom prst="roundRect">
            <a:avLst>
              <a:gd name="adj" fmla="val 3556"/>
            </a:avLst>
          </a:prstGeom>
          <a:solidFill>
            <a:srgbClr val="F4F6F9"/>
          </a:solidFill>
          <a:ln w="12700">
            <a:solidFill>
              <a:srgbClr val="E3E8EF"/>
            </a:solidFill>
            <a:prstDash val="solid"/>
          </a:ln>
        </p:spPr>
      </p:sp>
      <p:sp>
        <p:nvSpPr>
          <p:cNvPr id="24" name="Shape 22"/>
          <p:cNvSpPr/>
          <p:nvPr/>
        </p:nvSpPr>
        <p:spPr>
          <a:xfrm>
            <a:off x="6583680" y="4498848"/>
            <a:ext cx="365760" cy="365760"/>
          </a:xfrm>
          <a:prstGeom prst="ellipse">
            <a:avLst/>
          </a:prstGeom>
          <a:solidFill>
            <a:srgbClr val="EB6834"/>
          </a:solidFill>
          <a:ln/>
        </p:spPr>
      </p:sp>
      <p:sp>
        <p:nvSpPr>
          <p:cNvPr id="25" name="Text 23"/>
          <p:cNvSpPr/>
          <p:nvPr/>
        </p:nvSpPr>
        <p:spPr>
          <a:xfrm>
            <a:off x="6583680" y="44988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6" name="Text 24"/>
          <p:cNvSpPr/>
          <p:nvPr/>
        </p:nvSpPr>
        <p:spPr>
          <a:xfrm>
            <a:off x="7086600" y="4498848"/>
            <a:ext cx="4297680" cy="365760"/>
          </a:xfrm>
          <a:prstGeom prst="rect">
            <a:avLst/>
          </a:prstGeom>
          <a:noFill/>
          <a:ln/>
        </p:spPr>
        <p:txBody>
          <a:bodyPr wrap="square" lIns="0" tIns="0" rIns="0" bIns="0" rtlCol="0" anchor="ctr"/>
          <a:lstStyle/>
          <a:p>
            <a:pPr indent="0" marL="0">
              <a:buNone/>
            </a:pPr>
            <a:r>
              <a:rPr lang="en-US" sz="1350" b="1" dirty="0">
                <a:solidFill>
                  <a:srgbClr val="EB6834"/>
                </a:solidFill>
                <a:latin typeface="Calibri" pitchFamily="34" charset="0"/>
                <a:ea typeface="Calibri" pitchFamily="34" charset="-122"/>
                <a:cs typeface="Calibri" pitchFamily="34" charset="-120"/>
              </a:rPr>
              <a:t>Encontró un error real en nuestro código</a:t>
            </a:r>
            <a:endParaRPr lang="en-US" sz="1350" dirty="0"/>
          </a:p>
        </p:txBody>
      </p:sp>
      <p:sp>
        <p:nvSpPr>
          <p:cNvPr id="27" name="Text 25"/>
          <p:cNvSpPr/>
          <p:nvPr/>
        </p:nvSpPr>
        <p:spPr>
          <a:xfrm>
            <a:off x="6583680" y="4983480"/>
            <a:ext cx="4754880" cy="1280160"/>
          </a:xfrm>
          <a:prstGeom prst="rect">
            <a:avLst/>
          </a:prstGeom>
          <a:noFill/>
          <a:ln/>
        </p:spPr>
        <p:txBody>
          <a:bodyPr wrap="square" lIns="0" tIns="0" rIns="0" bIns="0" rtlCol="0" anchor="t"/>
          <a:lstStyle/>
          <a:p>
            <a:pPr indent="0" marL="0">
              <a:buNone/>
            </a:pPr>
            <a:r>
              <a:rPr lang="en-US" sz="1250" dirty="0">
                <a:solidFill>
                  <a:srgbClr val="12181F"/>
                </a:solidFill>
                <a:latin typeface="Calibri" pitchFamily="34" charset="0"/>
                <a:ea typeface="Calibri" pitchFamily="34" charset="-122"/>
                <a:cs typeface="Calibri" pitchFamily="34" charset="-120"/>
              </a:rPr>
              <a:t>La regla R05 se caía cuando le llegaba texto donde esperaba un número. Sin esta simulación, ese error habría aparecido el día que un sensor mandara texto por un fallo de formato, y en producción, no en una prueba.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2A78D6"/>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12181F"/>
                </a:solidFill>
                <a:latin typeface="Cambria" pitchFamily="34" charset="0"/>
                <a:ea typeface="Cambria" pitchFamily="34" charset="-122"/>
                <a:cs typeface="Cambria" pitchFamily="34" charset="-120"/>
              </a:rPr>
              <a:t>Qué no hicimos, y qué haríamos con más tiempo</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Ser honestas sobre los límites es parte del trabajo</a:t>
            </a:r>
            <a:endParaRPr lang="en-US" sz="1400" dirty="0"/>
          </a:p>
        </p:txBody>
      </p:sp>
      <p:sp>
        <p:nvSpPr>
          <p:cNvPr id="6" name="Text 4"/>
          <p:cNvSpPr/>
          <p:nvPr/>
        </p:nvSpPr>
        <p:spPr>
          <a:xfrm>
            <a:off x="566928" y="1691640"/>
            <a:ext cx="5394960" cy="310896"/>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Los límites de este trabajo</a:t>
            </a:r>
            <a:endParaRPr lang="en-US" sz="1400" dirty="0"/>
          </a:p>
        </p:txBody>
      </p:sp>
      <p:sp>
        <p:nvSpPr>
          <p:cNvPr id="7" name="Text 5"/>
          <p:cNvSpPr/>
          <p:nvPr/>
        </p:nvSpPr>
        <p:spPr>
          <a:xfrm>
            <a:off x="566928" y="2084832"/>
            <a:ext cx="539496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Un solo lugar y un solo año: una ciudad del norte de Italia, 2004-2005.</a:t>
            </a:r>
            <a:endParaRPr lang="en-US" sz="1300" dirty="0"/>
          </a:p>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Trece meses es poco para una serie estacional: solo vimos un invierno.</a:t>
            </a:r>
            <a:endParaRPr lang="en-US" sz="1300" dirty="0"/>
          </a:p>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El umbral del 25% de degradación lo escogimos nosotras, no salió de datos del negocio.</a:t>
            </a:r>
            <a:endParaRPr lang="en-US" sz="1300" dirty="0"/>
          </a:p>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Los umbrales del PSI vienen prestados del riesgo crediticio.</a:t>
            </a:r>
            <a:endParaRPr lang="en-US" sz="1300" dirty="0"/>
          </a:p>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El modelo no explica pronósticos individuales.</a:t>
            </a:r>
            <a:endParaRPr lang="en-US" sz="1300" dirty="0"/>
          </a:p>
        </p:txBody>
      </p:sp>
      <p:sp>
        <p:nvSpPr>
          <p:cNvPr id="8" name="Text 6"/>
          <p:cNvSpPr/>
          <p:nvPr/>
        </p:nvSpPr>
        <p:spPr>
          <a:xfrm>
            <a:off x="6309360" y="1691640"/>
            <a:ext cx="5303520" cy="310896"/>
          </a:xfrm>
          <a:prstGeom prst="rect">
            <a:avLst/>
          </a:prstGeom>
          <a:noFill/>
          <a:ln/>
        </p:spPr>
        <p:txBody>
          <a:bodyPr wrap="square" lIns="0" tIns="0" rIns="0" bIns="0" rtlCol="0" anchor="ctr"/>
          <a:lstStyle/>
          <a:p>
            <a:pPr indent="0" marL="0">
              <a:buNone/>
            </a:pPr>
            <a:r>
              <a:rPr lang="en-US" sz="1400" b="1" dirty="0">
                <a:solidFill>
                  <a:srgbClr val="1BAF7A"/>
                </a:solidFill>
                <a:latin typeface="Calibri" pitchFamily="34" charset="0"/>
                <a:ea typeface="Calibri" pitchFamily="34" charset="-122"/>
                <a:cs typeface="Calibri" pitchFamily="34" charset="-120"/>
              </a:rPr>
              <a:t>Lo que seguiría, en orden de valor</a:t>
            </a:r>
            <a:endParaRPr lang="en-US" sz="1400" dirty="0"/>
          </a:p>
        </p:txBody>
      </p:sp>
      <p:sp>
        <p:nvSpPr>
          <p:cNvPr id="9" name="Text 7"/>
          <p:cNvSpPr/>
          <p:nvPr/>
        </p:nvSpPr>
        <p:spPr>
          <a:xfrm>
            <a:off x="6309360" y="2084832"/>
            <a:ext cx="530352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Conseguir más años de datos. Es lo que más movería la aguja.</a:t>
            </a:r>
            <a:endParaRPr lang="en-US" sz="1300" dirty="0"/>
          </a:p>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Fijar el umbral de degradación con datos del negocio.</a:t>
            </a:r>
            <a:endParaRPr lang="en-US" sz="1300" dirty="0"/>
          </a:p>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Reentrenamiento automático, pero comparando el candidato contra el modelo vigente antes de reemplazarlo.</a:t>
            </a:r>
            <a:endParaRPr lang="en-US" sz="1300" dirty="0"/>
          </a:p>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Explicabilidad por pronóstico, para justificar una alerta concreta.</a:t>
            </a:r>
            <a:endParaRPr lang="en-US" sz="1300" dirty="0"/>
          </a:p>
          <a:p>
            <a:pPr marL="342900" indent="-342900">
              <a:spcAft>
                <a:spcPts val="800"/>
              </a:spcAft>
              <a:buSzPct val="100000"/>
              <a:buChar char="•"/>
            </a:pPr>
            <a:r>
              <a:rPr lang="en-US" sz="1300" dirty="0">
                <a:solidFill>
                  <a:srgbClr val="12181F"/>
                </a:solidFill>
                <a:latin typeface="Calibri" pitchFamily="34" charset="0"/>
                <a:ea typeface="Calibri" pitchFamily="34" charset="-122"/>
                <a:cs typeface="Calibri" pitchFamily="34" charset="-120"/>
              </a:rPr>
              <a:t>Que las alertas salgan del log y le lleguen a alguien.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384048"/>
            <a:ext cx="402336" cy="402336"/>
          </a:xfrm>
          <a:prstGeom prst="ellipse">
            <a:avLst/>
          </a:prstGeom>
          <a:solidFill>
            <a:srgbClr val="1BAF7A"/>
          </a:solidFill>
          <a:ln/>
        </p:spPr>
      </p:sp>
      <p:sp>
        <p:nvSpPr>
          <p:cNvPr id="3" name="Text 1"/>
          <p:cNvSpPr/>
          <p:nvPr/>
        </p:nvSpPr>
        <p:spPr>
          <a:xfrm>
            <a:off x="566928" y="3840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p:nvPr/>
        </p:nvSpPr>
        <p:spPr>
          <a:xfrm>
            <a:off x="1133856" y="329184"/>
            <a:ext cx="10460736" cy="530352"/>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Demostración en vivo</a:t>
            </a:r>
            <a:endParaRPr lang="en-US" sz="3000" dirty="0"/>
          </a:p>
        </p:txBody>
      </p:sp>
      <p:sp>
        <p:nvSpPr>
          <p:cNvPr id="5" name="Text 3"/>
          <p:cNvSpPr/>
          <p:nvPr/>
        </p:nvSpPr>
        <p:spPr>
          <a:xfrm>
            <a:off x="1133856" y="914400"/>
            <a:ext cx="10460736" cy="384048"/>
          </a:xfrm>
          <a:prstGeom prst="rect">
            <a:avLst/>
          </a:prstGeom>
          <a:noFill/>
          <a:ln/>
        </p:spPr>
        <p:txBody>
          <a:bodyPr wrap="square" lIns="0" tIns="0" rIns="0" bIns="0" rtlCol="0" anchor="ctr"/>
          <a:lstStyle/>
          <a:p>
            <a:pPr indent="0" marL="0">
              <a:buNone/>
            </a:pPr>
            <a:r>
              <a:rPr lang="en-US" sz="1400" dirty="0">
                <a:solidFill>
                  <a:srgbClr val="AFC0D4"/>
                </a:solidFill>
                <a:latin typeface="Calibri" pitchFamily="34" charset="0"/>
                <a:ea typeface="Calibri" pitchFamily="34" charset="-122"/>
                <a:cs typeface="Calibri" pitchFamily="34" charset="-120"/>
              </a:rPr>
              <a:t>El recorrido completo, de los datos crudos a la alerta</a:t>
            </a:r>
            <a:endParaRPr lang="en-US" sz="1400" dirty="0"/>
          </a:p>
        </p:txBody>
      </p:sp>
      <p:sp>
        <p:nvSpPr>
          <p:cNvPr id="6" name="Shape 4"/>
          <p:cNvSpPr/>
          <p:nvPr/>
        </p:nvSpPr>
        <p:spPr>
          <a:xfrm>
            <a:off x="566928" y="1783080"/>
            <a:ext cx="365760" cy="365760"/>
          </a:xfrm>
          <a:prstGeom prst="ellipse">
            <a:avLst/>
          </a:prstGeom>
          <a:solidFill>
            <a:srgbClr val="2A78D6"/>
          </a:solidFill>
          <a:ln/>
        </p:spPr>
      </p:sp>
      <p:sp>
        <p:nvSpPr>
          <p:cNvPr id="7" name="Text 5"/>
          <p:cNvSpPr/>
          <p:nvPr/>
        </p:nvSpPr>
        <p:spPr>
          <a:xfrm>
            <a:off x="566928" y="17830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069848" y="1691640"/>
            <a:ext cx="49377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Raw Data</a:t>
            </a:r>
            <a:endParaRPr lang="en-US" sz="1350" dirty="0"/>
          </a:p>
        </p:txBody>
      </p:sp>
      <p:sp>
        <p:nvSpPr>
          <p:cNvPr id="9" name="Text 7"/>
          <p:cNvSpPr/>
          <p:nvPr/>
        </p:nvSpPr>
        <p:spPr>
          <a:xfrm>
            <a:off x="1069848" y="2002536"/>
            <a:ext cx="4937760" cy="292608"/>
          </a:xfrm>
          <a:prstGeom prst="rect">
            <a:avLst/>
          </a:prstGeom>
          <a:noFill/>
          <a:ln/>
        </p:spPr>
        <p:txBody>
          <a:bodyPr wrap="square" lIns="0" tIns="0" rIns="0" bIns="0" rtlCol="0" anchor="ctr"/>
          <a:lstStyle/>
          <a:p>
            <a:pPr indent="0" marL="0">
              <a:buNone/>
            </a:pPr>
            <a:r>
              <a:rPr lang="en-US" sz="1000" dirty="0">
                <a:solidFill>
                  <a:srgbClr val="9EE8C8"/>
                </a:solidFill>
                <a:latin typeface="Courier New" pitchFamily="34" charset="0"/>
                <a:ea typeface="Courier New" pitchFamily="34" charset="-122"/>
                <a:cs typeface="Courier New" pitchFamily="34" charset="-120"/>
              </a:rPr>
              <a:t>python -m src.ingestion.ingest</a:t>
            </a:r>
            <a:endParaRPr lang="en-US" sz="1000" dirty="0"/>
          </a:p>
        </p:txBody>
      </p:sp>
      <p:sp>
        <p:nvSpPr>
          <p:cNvPr id="10" name="Shape 8"/>
          <p:cNvSpPr/>
          <p:nvPr/>
        </p:nvSpPr>
        <p:spPr>
          <a:xfrm>
            <a:off x="566928" y="2715768"/>
            <a:ext cx="365760" cy="365760"/>
          </a:xfrm>
          <a:prstGeom prst="ellipse">
            <a:avLst/>
          </a:prstGeom>
          <a:solidFill>
            <a:srgbClr val="2A78D6"/>
          </a:solidFill>
          <a:ln/>
        </p:spPr>
      </p:sp>
      <p:sp>
        <p:nvSpPr>
          <p:cNvPr id="11" name="Text 9"/>
          <p:cNvSpPr/>
          <p:nvPr/>
        </p:nvSpPr>
        <p:spPr>
          <a:xfrm>
            <a:off x="566928" y="27157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69848" y="2624328"/>
            <a:ext cx="49377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Validation</a:t>
            </a:r>
            <a:endParaRPr lang="en-US" sz="1350" dirty="0"/>
          </a:p>
        </p:txBody>
      </p:sp>
      <p:sp>
        <p:nvSpPr>
          <p:cNvPr id="13" name="Text 11"/>
          <p:cNvSpPr/>
          <p:nvPr/>
        </p:nvSpPr>
        <p:spPr>
          <a:xfrm>
            <a:off x="1069848" y="2935224"/>
            <a:ext cx="4937760" cy="292608"/>
          </a:xfrm>
          <a:prstGeom prst="rect">
            <a:avLst/>
          </a:prstGeom>
          <a:noFill/>
          <a:ln/>
        </p:spPr>
        <p:txBody>
          <a:bodyPr wrap="square" lIns="0" tIns="0" rIns="0" bIns="0" rtlCol="0" anchor="ctr"/>
          <a:lstStyle/>
          <a:p>
            <a:pPr indent="0" marL="0">
              <a:buNone/>
            </a:pPr>
            <a:r>
              <a:rPr lang="en-US" sz="1000" dirty="0">
                <a:solidFill>
                  <a:srgbClr val="9EE8C8"/>
                </a:solidFill>
                <a:latin typeface="Courier New" pitchFamily="34" charset="0"/>
                <a:ea typeface="Courier New" pitchFamily="34" charset="-122"/>
                <a:cs typeface="Courier New" pitchFamily="34" charset="-120"/>
              </a:rPr>
              <a:t>python -m src.validation.diagnose</a:t>
            </a:r>
            <a:endParaRPr lang="en-US" sz="1000" dirty="0"/>
          </a:p>
        </p:txBody>
      </p:sp>
      <p:sp>
        <p:nvSpPr>
          <p:cNvPr id="14" name="Shape 12"/>
          <p:cNvSpPr/>
          <p:nvPr/>
        </p:nvSpPr>
        <p:spPr>
          <a:xfrm>
            <a:off x="566928" y="3648456"/>
            <a:ext cx="365760" cy="365760"/>
          </a:xfrm>
          <a:prstGeom prst="ellipse">
            <a:avLst/>
          </a:prstGeom>
          <a:solidFill>
            <a:srgbClr val="2A78D6"/>
          </a:solidFill>
          <a:ln/>
        </p:spPr>
      </p:sp>
      <p:sp>
        <p:nvSpPr>
          <p:cNvPr id="15" name="Text 13"/>
          <p:cNvSpPr/>
          <p:nvPr/>
        </p:nvSpPr>
        <p:spPr>
          <a:xfrm>
            <a:off x="566928" y="36484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069848" y="3557016"/>
            <a:ext cx="49377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Training</a:t>
            </a:r>
            <a:endParaRPr lang="en-US" sz="1350" dirty="0"/>
          </a:p>
        </p:txBody>
      </p:sp>
      <p:sp>
        <p:nvSpPr>
          <p:cNvPr id="17" name="Text 15"/>
          <p:cNvSpPr/>
          <p:nvPr/>
        </p:nvSpPr>
        <p:spPr>
          <a:xfrm>
            <a:off x="1069848" y="3867912"/>
            <a:ext cx="4937760" cy="292608"/>
          </a:xfrm>
          <a:prstGeom prst="rect">
            <a:avLst/>
          </a:prstGeom>
          <a:noFill/>
          <a:ln/>
        </p:spPr>
        <p:txBody>
          <a:bodyPr wrap="square" lIns="0" tIns="0" rIns="0" bIns="0" rtlCol="0" anchor="ctr"/>
          <a:lstStyle/>
          <a:p>
            <a:pPr indent="0" marL="0">
              <a:buNone/>
            </a:pPr>
            <a:r>
              <a:rPr lang="en-US" sz="1000" dirty="0">
                <a:solidFill>
                  <a:srgbClr val="9EE8C8"/>
                </a:solidFill>
                <a:latin typeface="Courier New" pitchFamily="34" charset="0"/>
                <a:ea typeface="Courier New" pitchFamily="34" charset="-122"/>
                <a:cs typeface="Courier New" pitchFamily="34" charset="-120"/>
              </a:rPr>
              <a:t>python -m src.training.train</a:t>
            </a:r>
            <a:endParaRPr lang="en-US" sz="1000" dirty="0"/>
          </a:p>
        </p:txBody>
      </p:sp>
      <p:sp>
        <p:nvSpPr>
          <p:cNvPr id="18" name="Shape 16"/>
          <p:cNvSpPr/>
          <p:nvPr/>
        </p:nvSpPr>
        <p:spPr>
          <a:xfrm>
            <a:off x="566928" y="4581144"/>
            <a:ext cx="365760" cy="365760"/>
          </a:xfrm>
          <a:prstGeom prst="ellipse">
            <a:avLst/>
          </a:prstGeom>
          <a:solidFill>
            <a:srgbClr val="2A78D6"/>
          </a:solidFill>
          <a:ln/>
        </p:spPr>
      </p:sp>
      <p:sp>
        <p:nvSpPr>
          <p:cNvPr id="19" name="Text 17"/>
          <p:cNvSpPr/>
          <p:nvPr/>
        </p:nvSpPr>
        <p:spPr>
          <a:xfrm>
            <a:off x="566928" y="45811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1069848" y="4489704"/>
            <a:ext cx="49377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MLflow</a:t>
            </a:r>
            <a:endParaRPr lang="en-US" sz="1350" dirty="0"/>
          </a:p>
        </p:txBody>
      </p:sp>
      <p:sp>
        <p:nvSpPr>
          <p:cNvPr id="21" name="Text 19"/>
          <p:cNvSpPr/>
          <p:nvPr/>
        </p:nvSpPr>
        <p:spPr>
          <a:xfrm>
            <a:off x="1069848" y="4800600"/>
            <a:ext cx="4937760" cy="292608"/>
          </a:xfrm>
          <a:prstGeom prst="rect">
            <a:avLst/>
          </a:prstGeom>
          <a:noFill/>
          <a:ln/>
        </p:spPr>
        <p:txBody>
          <a:bodyPr wrap="square" lIns="0" tIns="0" rIns="0" bIns="0" rtlCol="0" anchor="ctr"/>
          <a:lstStyle/>
          <a:p>
            <a:pPr indent="0" marL="0">
              <a:buNone/>
            </a:pPr>
            <a:r>
              <a:rPr lang="en-US" sz="1000" dirty="0">
                <a:solidFill>
                  <a:srgbClr val="9EE8C8"/>
                </a:solidFill>
                <a:latin typeface="Courier New" pitchFamily="34" charset="0"/>
                <a:ea typeface="Courier New" pitchFamily="34" charset="-122"/>
                <a:cs typeface="Courier New" pitchFamily="34" charset="-120"/>
              </a:rPr>
              <a:t>mlflow ui</a:t>
            </a:r>
            <a:endParaRPr lang="en-US" sz="1000" dirty="0"/>
          </a:p>
        </p:txBody>
      </p:sp>
      <p:sp>
        <p:nvSpPr>
          <p:cNvPr id="22" name="Shape 20"/>
          <p:cNvSpPr/>
          <p:nvPr/>
        </p:nvSpPr>
        <p:spPr>
          <a:xfrm>
            <a:off x="566928" y="5513832"/>
            <a:ext cx="365760" cy="365760"/>
          </a:xfrm>
          <a:prstGeom prst="ellipse">
            <a:avLst/>
          </a:prstGeom>
          <a:solidFill>
            <a:srgbClr val="2A78D6"/>
          </a:solidFill>
          <a:ln/>
        </p:spPr>
      </p:sp>
      <p:sp>
        <p:nvSpPr>
          <p:cNvPr id="23" name="Text 21"/>
          <p:cNvSpPr/>
          <p:nvPr/>
        </p:nvSpPr>
        <p:spPr>
          <a:xfrm>
            <a:off x="566928" y="55138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p:nvPr/>
        </p:nvSpPr>
        <p:spPr>
          <a:xfrm>
            <a:off x="1069848" y="5422392"/>
            <a:ext cx="49377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Model Registry</a:t>
            </a:r>
            <a:endParaRPr lang="en-US" sz="1350" dirty="0"/>
          </a:p>
        </p:txBody>
      </p:sp>
      <p:sp>
        <p:nvSpPr>
          <p:cNvPr id="25" name="Text 23"/>
          <p:cNvSpPr/>
          <p:nvPr/>
        </p:nvSpPr>
        <p:spPr>
          <a:xfrm>
            <a:off x="1069848" y="5733288"/>
            <a:ext cx="4937760" cy="292608"/>
          </a:xfrm>
          <a:prstGeom prst="rect">
            <a:avLst/>
          </a:prstGeom>
          <a:noFill/>
          <a:ln/>
        </p:spPr>
        <p:txBody>
          <a:bodyPr wrap="square" lIns="0" tIns="0" rIns="0" bIns="0" rtlCol="0" anchor="ctr"/>
          <a:lstStyle/>
          <a:p>
            <a:pPr indent="0" marL="0">
              <a:buNone/>
            </a:pPr>
            <a:r>
              <a:rPr lang="en-US" sz="1000" dirty="0">
                <a:solidFill>
                  <a:srgbClr val="9EE8C8"/>
                </a:solidFill>
                <a:latin typeface="Courier New" pitchFamily="34" charset="0"/>
                <a:ea typeface="Courier New" pitchFamily="34" charset="-122"/>
                <a:cs typeface="Courier New" pitchFamily="34" charset="-120"/>
              </a:rPr>
              <a:t>alias candidato y produccion</a:t>
            </a:r>
            <a:endParaRPr lang="en-US" sz="1000" dirty="0"/>
          </a:p>
        </p:txBody>
      </p:sp>
      <p:sp>
        <p:nvSpPr>
          <p:cNvPr id="26" name="Shape 24"/>
          <p:cNvSpPr/>
          <p:nvPr/>
        </p:nvSpPr>
        <p:spPr>
          <a:xfrm>
            <a:off x="6373368" y="1783080"/>
            <a:ext cx="365760" cy="365760"/>
          </a:xfrm>
          <a:prstGeom prst="ellipse">
            <a:avLst/>
          </a:prstGeom>
          <a:solidFill>
            <a:srgbClr val="2A78D6"/>
          </a:solidFill>
          <a:ln/>
        </p:spPr>
      </p:sp>
      <p:sp>
        <p:nvSpPr>
          <p:cNvPr id="27" name="Text 25"/>
          <p:cNvSpPr/>
          <p:nvPr/>
        </p:nvSpPr>
        <p:spPr>
          <a:xfrm>
            <a:off x="6373368" y="17830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p:nvPr/>
        </p:nvSpPr>
        <p:spPr>
          <a:xfrm>
            <a:off x="6876288" y="1691640"/>
            <a:ext cx="49377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Docker</a:t>
            </a:r>
            <a:endParaRPr lang="en-US" sz="1350" dirty="0"/>
          </a:p>
        </p:txBody>
      </p:sp>
      <p:sp>
        <p:nvSpPr>
          <p:cNvPr id="29" name="Text 27"/>
          <p:cNvSpPr/>
          <p:nvPr/>
        </p:nvSpPr>
        <p:spPr>
          <a:xfrm>
            <a:off x="6876288" y="2002536"/>
            <a:ext cx="4937760" cy="292608"/>
          </a:xfrm>
          <a:prstGeom prst="rect">
            <a:avLst/>
          </a:prstGeom>
          <a:noFill/>
          <a:ln/>
        </p:spPr>
        <p:txBody>
          <a:bodyPr wrap="square" lIns="0" tIns="0" rIns="0" bIns="0" rtlCol="0" anchor="ctr"/>
          <a:lstStyle/>
          <a:p>
            <a:pPr indent="0" marL="0">
              <a:buNone/>
            </a:pPr>
            <a:r>
              <a:rPr lang="en-US" sz="1000" dirty="0">
                <a:solidFill>
                  <a:srgbClr val="9EE8C8"/>
                </a:solidFill>
                <a:latin typeface="Courier New" pitchFamily="34" charset="0"/>
                <a:ea typeface="Courier New" pitchFamily="34" charset="-122"/>
                <a:cs typeface="Courier New" pitchFamily="34" charset="-120"/>
              </a:rPr>
              <a:t>docker run -p 8000:8000 grupo8-mlops</a:t>
            </a:r>
            <a:endParaRPr lang="en-US" sz="1000" dirty="0"/>
          </a:p>
        </p:txBody>
      </p:sp>
      <p:sp>
        <p:nvSpPr>
          <p:cNvPr id="30" name="Shape 28"/>
          <p:cNvSpPr/>
          <p:nvPr/>
        </p:nvSpPr>
        <p:spPr>
          <a:xfrm>
            <a:off x="6373368" y="2715768"/>
            <a:ext cx="365760" cy="365760"/>
          </a:xfrm>
          <a:prstGeom prst="ellipse">
            <a:avLst/>
          </a:prstGeom>
          <a:solidFill>
            <a:srgbClr val="2A78D6"/>
          </a:solidFill>
          <a:ln/>
        </p:spPr>
      </p:sp>
      <p:sp>
        <p:nvSpPr>
          <p:cNvPr id="31" name="Text 29"/>
          <p:cNvSpPr/>
          <p:nvPr/>
        </p:nvSpPr>
        <p:spPr>
          <a:xfrm>
            <a:off x="6373368" y="27157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2" name="Text 30"/>
          <p:cNvSpPr/>
          <p:nvPr/>
        </p:nvSpPr>
        <p:spPr>
          <a:xfrm>
            <a:off x="6876288" y="2624328"/>
            <a:ext cx="49377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API Prediction</a:t>
            </a:r>
            <a:endParaRPr lang="en-US" sz="1350" dirty="0"/>
          </a:p>
        </p:txBody>
      </p:sp>
      <p:sp>
        <p:nvSpPr>
          <p:cNvPr id="33" name="Text 31"/>
          <p:cNvSpPr/>
          <p:nvPr/>
        </p:nvSpPr>
        <p:spPr>
          <a:xfrm>
            <a:off x="6876288" y="2935224"/>
            <a:ext cx="4937760" cy="292608"/>
          </a:xfrm>
          <a:prstGeom prst="rect">
            <a:avLst/>
          </a:prstGeom>
          <a:noFill/>
          <a:ln/>
        </p:spPr>
        <p:txBody>
          <a:bodyPr wrap="square" lIns="0" tIns="0" rIns="0" bIns="0" rtlCol="0" anchor="ctr"/>
          <a:lstStyle/>
          <a:p>
            <a:pPr indent="0" marL="0">
              <a:buNone/>
            </a:pPr>
            <a:r>
              <a:rPr lang="en-US" sz="1000" dirty="0">
                <a:solidFill>
                  <a:srgbClr val="9EE8C8"/>
                </a:solidFill>
                <a:latin typeface="Courier New" pitchFamily="34" charset="0"/>
                <a:ea typeface="Courier New" pitchFamily="34" charset="-122"/>
                <a:cs typeface="Courier New" pitchFamily="34" charset="-120"/>
              </a:rPr>
              <a:t>python scripts/probar_api.py</a:t>
            </a:r>
            <a:endParaRPr lang="en-US" sz="1000" dirty="0"/>
          </a:p>
        </p:txBody>
      </p:sp>
      <p:sp>
        <p:nvSpPr>
          <p:cNvPr id="34" name="Shape 32"/>
          <p:cNvSpPr/>
          <p:nvPr/>
        </p:nvSpPr>
        <p:spPr>
          <a:xfrm>
            <a:off x="6373368" y="3648456"/>
            <a:ext cx="365760" cy="365760"/>
          </a:xfrm>
          <a:prstGeom prst="ellipse">
            <a:avLst/>
          </a:prstGeom>
          <a:solidFill>
            <a:srgbClr val="2A78D6"/>
          </a:solidFill>
          <a:ln/>
        </p:spPr>
      </p:sp>
      <p:sp>
        <p:nvSpPr>
          <p:cNvPr id="35" name="Text 33"/>
          <p:cNvSpPr/>
          <p:nvPr/>
        </p:nvSpPr>
        <p:spPr>
          <a:xfrm>
            <a:off x="6373368" y="36484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6" name="Text 34"/>
          <p:cNvSpPr/>
          <p:nvPr/>
        </p:nvSpPr>
        <p:spPr>
          <a:xfrm>
            <a:off x="6876288" y="3557016"/>
            <a:ext cx="49377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Monitoring</a:t>
            </a:r>
            <a:endParaRPr lang="en-US" sz="1350" dirty="0"/>
          </a:p>
        </p:txBody>
      </p:sp>
      <p:sp>
        <p:nvSpPr>
          <p:cNvPr id="37" name="Text 35"/>
          <p:cNvSpPr/>
          <p:nvPr/>
        </p:nvSpPr>
        <p:spPr>
          <a:xfrm>
            <a:off x="6876288" y="3867912"/>
            <a:ext cx="4937760" cy="292608"/>
          </a:xfrm>
          <a:prstGeom prst="rect">
            <a:avLst/>
          </a:prstGeom>
          <a:noFill/>
          <a:ln/>
        </p:spPr>
        <p:txBody>
          <a:bodyPr wrap="square" lIns="0" tIns="0" rIns="0" bIns="0" rtlCol="0" anchor="ctr"/>
          <a:lstStyle/>
          <a:p>
            <a:pPr indent="0" marL="0">
              <a:buNone/>
            </a:pPr>
            <a:r>
              <a:rPr lang="en-US" sz="1000" dirty="0">
                <a:solidFill>
                  <a:srgbClr val="9EE8C8"/>
                </a:solidFill>
                <a:latin typeface="Courier New" pitchFamily="34" charset="0"/>
                <a:ea typeface="Courier New" pitchFamily="34" charset="-122"/>
                <a:cs typeface="Courier New" pitchFamily="34" charset="-120"/>
              </a:rPr>
              <a:t>python -m src.monitoring.run_monitoring</a:t>
            </a:r>
            <a:endParaRPr lang="en-US" sz="1000" dirty="0"/>
          </a:p>
        </p:txBody>
      </p:sp>
      <p:sp>
        <p:nvSpPr>
          <p:cNvPr id="38" name="Shape 36"/>
          <p:cNvSpPr/>
          <p:nvPr/>
        </p:nvSpPr>
        <p:spPr>
          <a:xfrm>
            <a:off x="6373368" y="4581144"/>
            <a:ext cx="365760" cy="365760"/>
          </a:xfrm>
          <a:prstGeom prst="ellipse">
            <a:avLst/>
          </a:prstGeom>
          <a:solidFill>
            <a:srgbClr val="EB6834"/>
          </a:solidFill>
          <a:ln/>
        </p:spPr>
      </p:sp>
      <p:sp>
        <p:nvSpPr>
          <p:cNvPr id="39" name="Text 37"/>
          <p:cNvSpPr/>
          <p:nvPr/>
        </p:nvSpPr>
        <p:spPr>
          <a:xfrm>
            <a:off x="6373368" y="45811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0" name="Text 38"/>
          <p:cNvSpPr/>
          <p:nvPr/>
        </p:nvSpPr>
        <p:spPr>
          <a:xfrm>
            <a:off x="6876288" y="4489704"/>
            <a:ext cx="493776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Drift Alert</a:t>
            </a:r>
            <a:endParaRPr lang="en-US" sz="1350" dirty="0"/>
          </a:p>
        </p:txBody>
      </p:sp>
      <p:sp>
        <p:nvSpPr>
          <p:cNvPr id="41" name="Text 39"/>
          <p:cNvSpPr/>
          <p:nvPr/>
        </p:nvSpPr>
        <p:spPr>
          <a:xfrm>
            <a:off x="6876288" y="4800600"/>
            <a:ext cx="4937760" cy="292608"/>
          </a:xfrm>
          <a:prstGeom prst="rect">
            <a:avLst/>
          </a:prstGeom>
          <a:noFill/>
          <a:ln/>
        </p:spPr>
        <p:txBody>
          <a:bodyPr wrap="square" lIns="0" tIns="0" rIns="0" bIns="0" rtlCol="0" anchor="ctr"/>
          <a:lstStyle/>
          <a:p>
            <a:pPr indent="0" marL="0">
              <a:buNone/>
            </a:pPr>
            <a:r>
              <a:rPr lang="en-US" sz="1000" dirty="0">
                <a:solidFill>
                  <a:srgbClr val="9EE8C8"/>
                </a:solidFill>
                <a:latin typeface="Courier New" pitchFamily="34" charset="0"/>
                <a:ea typeface="Courier New" pitchFamily="34" charset="-122"/>
                <a:cs typeface="Courier New" pitchFamily="34" charset="-120"/>
              </a:rPr>
              <a:t>python -m src.monitoring.contaminar</a:t>
            </a:r>
            <a:endParaRPr lang="en-US" sz="1000" dirty="0"/>
          </a:p>
        </p:txBody>
      </p:sp>
      <p:sp>
        <p:nvSpPr>
          <p:cNvPr id="42" name="Shape 40"/>
          <p:cNvSpPr/>
          <p:nvPr/>
        </p:nvSpPr>
        <p:spPr>
          <a:xfrm>
            <a:off x="6373368" y="4526280"/>
            <a:ext cx="5257800" cy="1737360"/>
          </a:xfrm>
          <a:prstGeom prst="roundRect">
            <a:avLst>
              <a:gd name="adj" fmla="val 4211"/>
            </a:avLst>
          </a:prstGeom>
          <a:solidFill>
            <a:srgbClr val="16273D"/>
          </a:solidFill>
          <a:ln w="12700">
            <a:solidFill>
              <a:srgbClr val="16273D"/>
            </a:solidFill>
            <a:prstDash val="solid"/>
          </a:ln>
        </p:spPr>
      </p:sp>
      <p:sp>
        <p:nvSpPr>
          <p:cNvPr id="43" name="Text 41"/>
          <p:cNvSpPr/>
          <p:nvPr/>
        </p:nvSpPr>
        <p:spPr>
          <a:xfrm>
            <a:off x="6665976" y="4690872"/>
            <a:ext cx="4663440" cy="310896"/>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Si nos pasan un lote que no hemos visto</a:t>
            </a:r>
            <a:endParaRPr lang="en-US" sz="1300" dirty="0"/>
          </a:p>
        </p:txBody>
      </p:sp>
      <p:sp>
        <p:nvSpPr>
          <p:cNvPr id="44" name="Text 42"/>
          <p:cNvSpPr/>
          <p:nvPr/>
        </p:nvSpPr>
        <p:spPr>
          <a:xfrm>
            <a:off x="6665976" y="5074920"/>
            <a:ext cx="4663440" cy="1097280"/>
          </a:xfrm>
          <a:prstGeom prst="rect">
            <a:avLst/>
          </a:prstGeom>
          <a:noFill/>
          <a:ln/>
        </p:spPr>
        <p:txBody>
          <a:bodyPr wrap="square" lIns="0" tIns="0" rIns="0" bIns="0" rtlCol="0" anchor="t"/>
          <a:lstStyle/>
          <a:p>
            <a:pPr indent="0" marL="0">
              <a:buNone/>
            </a:pPr>
            <a:r>
              <a:rPr lang="en-US" sz="1200" dirty="0">
                <a:solidFill>
                  <a:srgbClr val="AFC0D4"/>
                </a:solidFill>
                <a:latin typeface="Calibri" pitchFamily="34" charset="0"/>
                <a:ea typeface="Calibri" pitchFamily="34" charset="-122"/>
                <a:cs typeface="Calibri" pitchFamily="34" charset="-120"/>
              </a:rPr>
              <a:t>Pasa por los mismos Data Quality Gates. Si está bien, sale el pronóstico y el PSI contra la referencia. Si está roto, el pipeline se detiene y dice qué regla falló y por qué.</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Pronostico de benceno a 24 horas</dc:title>
  <dc:subject>PptxGenJS Presentation</dc:subject>
  <dc:creator>Grupo 8</dc:creator>
  <cp:lastModifiedBy>Grupo 8</cp:lastModifiedBy>
  <cp:revision>1</cp:revision>
  <dcterms:created xsi:type="dcterms:W3CDTF">2026-08-25T02:58:39Z</dcterms:created>
  <dcterms:modified xsi:type="dcterms:W3CDTF">2026-08-25T02:58:39Z</dcterms:modified>
</cp:coreProperties>
</file>